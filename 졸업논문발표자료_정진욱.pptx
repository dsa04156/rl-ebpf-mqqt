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</p:sldIdLst>
  <p:sldSz cx="24384000" cy="13716000"/>
  <p:notesSz cx="6858000" cy="9144000"/>
  <p:embeddedFontLst>
    <p:embeddedFont>
      <p:font typeface="KoPub돋움체 Bold" panose="00000800000000000000" pitchFamily="2" charset="-127"/>
      <p:bold r:id="rId20"/>
    </p:embeddedFont>
    <p:embeddedFont>
      <p:font typeface="KoPub돋움체 Medium" panose="00000600000000000000" pitchFamily="2" charset="-127"/>
      <p:regular r:id="rId21"/>
    </p:embeddedFont>
    <p:embeddedFont>
      <p:font typeface="Pretendard Regular" panose="020B0600000101010101" charset="-127"/>
      <p:regular r:id="rId22"/>
    </p:embeddedFont>
    <p:embeddedFont>
      <p:font typeface="맑은 고딕" panose="020B0503020000020004" pitchFamily="50" charset="-127"/>
      <p:regular r:id="rId23"/>
      <p:bold r:id="rId24"/>
    </p:embeddedFont>
    <p:embeddedFont>
      <p:font typeface="Arial Black" panose="020B0A04020102020204" pitchFamily="34" charset="0"/>
      <p:bold r:id="rId25"/>
    </p:embeddedFont>
    <p:embeddedFont>
      <p:font typeface="Arial Rounded MT Bold" panose="020F0704030504030204" pitchFamily="34" charset="0"/>
      <p:regular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4" autoAdjust="0"/>
    <p:restoredTop sz="74585" autoAdjust="0"/>
  </p:normalViewPr>
  <p:slideViewPr>
    <p:cSldViewPr>
      <p:cViewPr>
        <p:scale>
          <a:sx n="50" d="100"/>
          <a:sy n="50" d="100"/>
        </p:scale>
        <p:origin x="2708" y="5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26487-096A-4D71-90CE-BCBA2E54C911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E62E1-8A86-4C13-A7F8-E86B8EB88E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096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저는 경북대학교 컴퓨터학부 석사과정 정진욱입니다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.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sz="9600" dirty="0">
                <a:effectLst/>
                <a:latin typeface="+mn-ea"/>
                <a:ea typeface="+mn-ea"/>
              </a:rPr>
              <a:t>강화학습을 이용한 </a:t>
            </a:r>
            <a:r>
              <a:rPr lang="en-US" altLang="ko-KR" sz="9600" dirty="0" err="1">
                <a:effectLst/>
                <a:latin typeface="+mn-ea"/>
                <a:ea typeface="+mn-ea"/>
              </a:rPr>
              <a:t>eBPF</a:t>
            </a:r>
            <a:r>
              <a:rPr lang="en-US" altLang="ko-KR" sz="9600" dirty="0">
                <a:effectLst/>
                <a:latin typeface="+mn-ea"/>
                <a:ea typeface="+mn-ea"/>
              </a:rPr>
              <a:t> </a:t>
            </a:r>
            <a:r>
              <a:rPr lang="ko-KR" altLang="en-US" sz="9600" dirty="0">
                <a:effectLst/>
                <a:latin typeface="+mn-ea"/>
                <a:ea typeface="+mn-ea"/>
              </a:rPr>
              <a:t>커널 신호 기반 </a:t>
            </a:r>
            <a:r>
              <a:rPr lang="en-US" altLang="ko-KR" sz="9600" dirty="0">
                <a:effectLst/>
                <a:latin typeface="+mn-ea"/>
                <a:ea typeface="+mn-ea"/>
              </a:rPr>
              <a:t>MQTT </a:t>
            </a:r>
            <a:r>
              <a:rPr lang="ko-KR" altLang="en-US" sz="9600" dirty="0">
                <a:effectLst/>
                <a:latin typeface="+mn-ea"/>
                <a:ea typeface="+mn-ea"/>
              </a:rPr>
              <a:t>꼬리 지연 제어에 관한 연구를 주제로 발표 시작하겠습니다</a:t>
            </a:r>
            <a:r>
              <a:rPr lang="en-US" altLang="ko-KR" sz="9600" dirty="0">
                <a:effectLst/>
                <a:latin typeface="+mn-ea"/>
                <a:ea typeface="+mn-ea"/>
              </a:rPr>
              <a:t>.</a:t>
            </a:r>
            <a:br>
              <a:rPr lang="ko-KR" altLang="en-US" dirty="0">
                <a:latin typeface="+mn-ea"/>
                <a:ea typeface="+mn-ea"/>
              </a:rPr>
            </a:b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E62E1-8A86-4C13-A7F8-E86B8EB88E4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839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발표 흐름을 간단히 말씀드리겠습니다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.</a:t>
            </a:r>
            <a:b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</a:b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먼저 연구 배경과 문제 정의를 짚고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,</a:t>
            </a:r>
            <a:b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</a:b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다음으로 관련 </a:t>
            </a:r>
            <a:r>
              <a:rPr lang="ko-KR" altLang="en-US" b="0" i="0" dirty="0" err="1">
                <a:solidFill>
                  <a:srgbClr val="FFFFFF"/>
                </a:solidFill>
                <a:effectLst/>
                <a:latin typeface="+mn-ea"/>
                <a:ea typeface="+mn-ea"/>
              </a:rPr>
              <a:t>연구，이어서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b="0" i="0" dirty="0" err="1">
                <a:solidFill>
                  <a:srgbClr val="FFFFFF"/>
                </a:solidFill>
                <a:effectLst/>
                <a:latin typeface="+mn-ea"/>
                <a:ea typeface="+mn-ea"/>
              </a:rPr>
              <a:t>eBPF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기반 커널 관측과 강화학습 제어 에이전트로 구성된 제안 시스템을 소개하고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,</a:t>
            </a:r>
            <a:b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</a:b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실험 환경과 결과를 보여드린 뒤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,</a:t>
            </a:r>
            <a:b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</a:b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마지막으로 결론과 한계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, 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향후 연구 방향을 말씀드리겠습니다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.</a:t>
            </a:r>
            <a:b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</a:b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발표에 앞서 이 논문의 핵심은 </a:t>
            </a:r>
            <a:r>
              <a:rPr lang="ko-KR" altLang="en-US" b="1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애플리케이션 로그와 브로커 </a:t>
            </a:r>
            <a:r>
              <a:rPr lang="ko-KR" altLang="en-US" b="1" i="0" dirty="0" err="1">
                <a:solidFill>
                  <a:srgbClr val="FFFFFF"/>
                </a:solidFill>
                <a:effectLst/>
                <a:latin typeface="+mn-ea"/>
                <a:ea typeface="+mn-ea"/>
              </a:rPr>
              <a:t>메트릭만으로는</a:t>
            </a:r>
            <a:r>
              <a:rPr lang="ko-KR" altLang="en-US" b="1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b="1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tail</a:t>
            </a:r>
            <a:r>
              <a:rPr lang="ko-KR" altLang="en-US" b="1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을 제어하기 어렵다는 점이고 </a:t>
            </a:r>
            <a:br>
              <a:rPr lang="en-US" altLang="ko-KR" b="1" i="0" dirty="0">
                <a:solidFill>
                  <a:srgbClr val="FFFFFF"/>
                </a:solidFill>
                <a:effectLst/>
                <a:latin typeface="+mn-ea"/>
                <a:ea typeface="+mn-ea"/>
              </a:rPr>
            </a:br>
            <a:r>
              <a:rPr lang="ko-KR" altLang="en-US" b="1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그래서 </a:t>
            </a:r>
            <a:r>
              <a:rPr lang="en-US" altLang="ko-KR" b="1" i="0" dirty="0" err="1">
                <a:solidFill>
                  <a:srgbClr val="FFFFFF"/>
                </a:solidFill>
                <a:effectLst/>
                <a:latin typeface="+mn-ea"/>
                <a:ea typeface="+mn-ea"/>
              </a:rPr>
              <a:t>eBPF</a:t>
            </a:r>
            <a:r>
              <a:rPr lang="ko-KR" altLang="en-US" b="1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로 커널 지표를 직접 보고 제어해야 한다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는 점입니다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.”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E62E1-8A86-4C13-A7F8-E86B8EB88E4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356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먼저 </a:t>
            </a:r>
            <a:r>
              <a:rPr lang="ko-KR" altLang="en-US" b="0" i="0" dirty="0" err="1">
                <a:solidFill>
                  <a:srgbClr val="FFFFFF"/>
                </a:solidFill>
                <a:effectLst/>
                <a:latin typeface="+mn-ea"/>
                <a:ea typeface="+mn-ea"/>
              </a:rPr>
              <a:t>연구배경입니다</a:t>
            </a:r>
            <a:endParaRPr lang="en-US" altLang="ko-KR" b="0" i="0" dirty="0">
              <a:solidFill>
                <a:srgbClr val="FFFFFF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왼쪽 그림은 전세계에서 사용하는 산업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·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필드 프로토콜 순위입니다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.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여기서 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MQTT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가 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2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위라는 건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, </a:t>
            </a:r>
            <a:r>
              <a:rPr lang="en-US" altLang="ko-KR" b="1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IoT </a:t>
            </a:r>
            <a:r>
              <a:rPr lang="ko-KR" altLang="en-US" b="1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환경에서는 사실상 </a:t>
            </a:r>
            <a:r>
              <a:rPr lang="en-US" altLang="ko-KR" b="1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MQTT</a:t>
            </a:r>
            <a:r>
              <a:rPr lang="ko-KR" altLang="en-US" b="1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가 표준으로 </a:t>
            </a:r>
            <a:r>
              <a:rPr lang="ko-KR" altLang="en-US" b="1" i="0" dirty="0" err="1">
                <a:solidFill>
                  <a:srgbClr val="FFFFFF"/>
                </a:solidFill>
                <a:effectLst/>
                <a:latin typeface="+mn-ea"/>
                <a:ea typeface="+mn-ea"/>
              </a:rPr>
              <a:t>자리잡혀</a:t>
            </a:r>
            <a:r>
              <a:rPr lang="ko-KR" altLang="en-US" b="1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 있습니다</a:t>
            </a:r>
            <a:r>
              <a:rPr lang="en-US" altLang="ko-KR" b="1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이는 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MQTT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의 특성인 </a:t>
            </a:r>
            <a:r>
              <a:rPr lang="ko-KR" altLang="en-US" b="1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가볍고 헤더가 작은 프로토콜 구조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이기 때문입니다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. </a:t>
            </a:r>
          </a:p>
          <a:p>
            <a:pPr algn="l"/>
            <a:r>
              <a:rPr lang="ko-KR" altLang="en-US" b="1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하지만 이 </a:t>
            </a:r>
            <a:r>
              <a:rPr lang="en-US" altLang="ko-KR" b="1" i="0" dirty="0" err="1">
                <a:solidFill>
                  <a:srgbClr val="FFFFFF"/>
                </a:solidFill>
                <a:effectLst/>
                <a:latin typeface="+mn-ea"/>
                <a:ea typeface="+mn-ea"/>
              </a:rPr>
              <a:t>mqtt</a:t>
            </a:r>
            <a:r>
              <a:rPr lang="ko-KR" altLang="en-US" b="1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프로토콜에 도 문제점이 하나 있습니다</a:t>
            </a:r>
            <a:r>
              <a:rPr lang="en-US" altLang="ko-KR" b="1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. </a:t>
            </a:r>
          </a:p>
          <a:p>
            <a:pPr algn="l"/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IoT 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기기 특성상 네트워크 환경은 불안정할 수밖에 없고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, 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수천 개 디바이스의 트래픽이 브로커로 한꺼번에 몰립니다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.</a:t>
            </a:r>
            <a:b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</a:b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가운데 그림을 보시면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, 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가운데 평균 지연은 거의 평평한데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, 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위쪽 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p99 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꼬리 구간이 계속 튀고 있는 걸 볼 수 있습니다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.</a:t>
            </a:r>
            <a:b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</a:b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대부분 요청은 </a:t>
            </a:r>
            <a:r>
              <a:rPr lang="ko-KR" altLang="en-US" b="0" i="0" dirty="0" err="1">
                <a:solidFill>
                  <a:srgbClr val="FFFFFF"/>
                </a:solidFill>
                <a:effectLst/>
                <a:latin typeface="+mn-ea"/>
                <a:ea typeface="+mn-ea"/>
              </a:rPr>
              <a:t>몇십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b="0" i="0" dirty="0" err="1">
                <a:solidFill>
                  <a:srgbClr val="FFFFFF"/>
                </a:solidFill>
                <a:effectLst/>
                <a:latin typeface="+mn-ea"/>
                <a:ea typeface="+mn-ea"/>
              </a:rPr>
              <a:t>ms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안에 끝나지만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, 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일부 요청은 수 초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, 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수십 초까지 늦어지는 </a:t>
            </a:r>
            <a:r>
              <a:rPr lang="en-US" altLang="ko-KR" b="1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tail latency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가 생기는 겁니다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.</a:t>
            </a:r>
          </a:p>
          <a:p>
            <a:pPr algn="l"/>
            <a:endParaRPr lang="en-US" altLang="ko-KR" b="0" i="0" dirty="0">
              <a:solidFill>
                <a:srgbClr val="FFFFFF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오른쪽은 기존 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MQTT 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브로커에서 쓰는 해결책입니다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.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미확인 메시지 수를 제한해서 브로커 큐 폭증은 어느 정도 막지만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,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효과는 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p99 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꼬리 지연 문제는 막을 수 없고 애플리케이션 단 설정으로는 한계가 있습니다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+mn-ea"/>
                <a:ea typeface="+mn-ea"/>
              </a:rPr>
              <a:t>.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E62E1-8A86-4C13-A7F8-E86B8EB88E4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087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여기서 제가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관측 격차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 Observability Gap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이라고 부르는 부분을 짚고 넘어가겠습니다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위쪽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애플리케이션 레벨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에서 볼 수 있는 건 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정도뿐입니다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메시지 큐 길이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 in-flight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메시지 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 ack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상태 같은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브로커 내부 지표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그런데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커널 입장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에서 보면 상황이 완전히 다릅니다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snd_ratio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가 계속 넘쳐서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송신 버퍼가 이미 꽉 차 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 RTT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는 수백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ms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까지 늘어나 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재전송 카운트도 계속 쌓이고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TCP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레벨에서는 이미 병목이 터져 있는데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애플리케이션은 이걸 전혀 못 보는 상황이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</a:p>
          <a:p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그래서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애플리케이션 로그만 보는 걸로는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tail latency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제어가 불가능합니다</a:t>
            </a:r>
            <a:b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endParaRPr lang="en-US" altLang="ko-KR" sz="1200" b="0" i="0" kern="1200" dirty="0">
              <a:solidFill>
                <a:schemeClr val="tx1"/>
              </a:solidFill>
              <a:effectLst/>
              <a:latin typeface="+mn-ea"/>
              <a:ea typeface="+mn-ea"/>
              <a:cs typeface="+mn-cs"/>
            </a:endParaRPr>
          </a:p>
          <a:p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E62E1-8A86-4C13-A7F8-E86B8EB88E4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904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커널 지표를 </a:t>
            </a:r>
            <a:r>
              <a:rPr lang="ko-KR" altLang="en-US" dirty="0" err="1">
                <a:latin typeface="+mn-ea"/>
                <a:ea typeface="+mn-ea"/>
              </a:rPr>
              <a:t>봐야한다는</a:t>
            </a:r>
            <a:r>
              <a:rPr lang="ko-KR" altLang="en-US" dirty="0">
                <a:latin typeface="+mn-ea"/>
                <a:ea typeface="+mn-ea"/>
              </a:rPr>
              <a:t> 근거는 그림과 같습니다</a:t>
            </a:r>
            <a:r>
              <a:rPr lang="en-US" altLang="ko-KR" dirty="0">
                <a:latin typeface="+mn-ea"/>
                <a:ea typeface="+mn-ea"/>
              </a:rPr>
              <a:t>. </a:t>
            </a: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첫 번째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는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송신 버퍼를 크게 잡으면 꼬리 지연이 선형으로 증가한다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는 걸 실험으로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send buffer depth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자체가 지연의 직접 원인 변수라는 걸 증명합니다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이게 뒤에서 제가 쓰는 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snd_ratio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(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wmem_queued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 /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sndbuf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를 정당화해 주는 근거입니다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두 번째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SIGCOMM 2015 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TIMELY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 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이 논문은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RTT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의 미세한 상승을 혼잡 신호로 쓰면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tail latency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를 크게 줄일 수 있다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는 걸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RTT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가 단순 평균 지연이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꼬리 지연이 터지기 전에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선행 지표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로 쓸 수 있다는 거고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그래서 저도 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ewma_rtt_us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를 상태에 넣었습니다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세 번째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DCTCP / Shallow Queueing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과</a:t>
            </a:r>
            <a:b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네 번째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 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Bufferbloat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연구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(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CoDel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/PIE)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는 메시지가 같습니다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큐 점유율을 낮게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Queue length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를 짧게 유지하면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p95/p99 tail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이 급격히 떨어진다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리틀의 법칙 때문에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큐 지연은 큐 길이에 거의 비례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그래서 결국 “버퍼를 얼마나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채워두느냐”가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 꼬리 지연을 결정한다는 걸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제 연구는 이 네 가지 결과를 합쳐서 이렇게 주장합니다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RTT,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버퍼 점유율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(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snd_ratio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),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재전송은 꼬리 지연의 선행 지표이고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</a:t>
            </a:r>
            <a:b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이 신호들을 </a:t>
            </a:r>
            <a:r>
              <a:rPr lang="en-US" altLang="ko-KR" sz="1200" b="1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eBPF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로 뽑아서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RL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제어에 넣으면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p99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를 직접 때릴 수 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  <a:b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뒤 슬라이드에서 실제 실험 결과로 이 주장을 검증하겠습니다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</a:p>
          <a:p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E62E1-8A86-4C13-A7F8-E86B8EB88E4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172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E62E1-8A86-4C13-A7F8-E86B8EB88E4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749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이 슬라이드는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MQTT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지연을 줄이려는 기존 시도들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먼저 왼쪽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Cloud–Edge MQTT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논문은</a:t>
            </a:r>
            <a:b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엣지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 환경에서 브로커 메모리 사용을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75%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줄이면서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메시지 스케줄링으로 지연을 줄이는 방법을 제안합니다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가운데는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EMQX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에서 공개한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성능 최적화 가이드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및 벤치마크 결과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200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만 동시 연결에서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p99 4.66ms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를 달성했다고 하지만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이들 연구는 공통적으로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Application-level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제어만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 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커널 신호는 보지 못한 채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네트워크 부하나 패킷 손실이 생겼을 때의 꼬리 지연 문제는 다루지 못합니다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ea"/>
              <a:ea typeface="+mn-ea"/>
              <a:cs typeface="+mn-cs"/>
            </a:endParaRPr>
          </a:p>
          <a:p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E62E1-8A86-4C13-A7F8-E86B8EB88E4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762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Arial Black" panose="020B0A04020102020204" pitchFamily="34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E62E1-8A86-4C13-A7F8-E86B8EB88E4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249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이 슬라이드는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강화학습에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사용되는 상태 벡터가 어떻게 구성되어 있는지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를 정리한 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먼저 위쪽의 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Kernel Signals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개는 전부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eBPF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로 커널에서 직접 가져오는 값입니다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snd_ratio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는 송신 버퍼가 얼마나 차 있는지의 비율이고</a:t>
            </a:r>
          </a:p>
          <a:p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rcv_ratio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는 수신 버퍼 점유율입니다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rtt_norm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EWMA RTT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정규화한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 값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</a:t>
            </a:r>
          </a:p>
          <a:p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had_retrans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는 최근 구간에 재전송이 한 번이라도 있었는지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</a:t>
            </a:r>
          </a:p>
          <a:p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congestion_score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는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snd_ratio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RTT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를 조합해서 만든 혼잡도 지표입니다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그 아래 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Policy Context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개는 현재 제어 상태입니다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지금 쓰고 있는 발행속도와 배치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크기를 각각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0~1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사이로 정규화해서 넣었습니다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마지막 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Momentum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개는 바로 직전 스텝에서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rate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batch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를 얼마나 변경했는지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변화량 정보입니다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이렇게 해서 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차원 상태 벡터를 쓰고 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 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커널 신호로 현재 혼잡 상태를 보고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, 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현재 정책과 변화 추세까지 포함해서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RL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이 다음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rate·batch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를 결정하는 구조입니다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.</a:t>
            </a:r>
          </a:p>
          <a:p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E62E1-8A86-4C13-A7F8-E86B8EB88E4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258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E62E1-8A86-4C13-A7F8-E86B8EB88E4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3836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>
              <a:latin typeface="+mj-lt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E62E1-8A86-4C13-A7F8-E86B8EB88E4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582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E62E1-8A86-4C13-A7F8-E86B8EB88E4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3477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E62E1-8A86-4C13-A7F8-E86B8EB88E4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646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이제 혼잡 네트워크 상황에서의 결과입니다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맨 위 그래프는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p99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지연입니다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Baseline·EMQX·CUBIC+CoDel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은 시간이 갈수록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p99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가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수 초에서 수십 초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까지 올라가는 모습을 보이는 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,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제연구에서는 초반 학습 구간 이후에는 거의 전 구간에서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300ms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근처에 붙어 있고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, p99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지연 제어가 성공한 모습을 보여줍니다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가운데 그래프는 버퍼 압력입니다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붉은 점선이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1.0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으로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버퍼가 꽉 찬 상태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인데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, Baseline, EMQX,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CUBIC+CoDel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은 대부분 시간이 이 빨간 영역 안에 들어가 있어서 항상 큐가 꽉 차 있는 걸 볼 수 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,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en-US" altLang="ko-KR" sz="1200" b="1" i="0" kern="1200" dirty="0" err="1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eMQTT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-RL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만 유일하게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0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근처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,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안전 구간에 머물러 있습니다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아까 관련연구에서 말한 것처럼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버퍼 점유가 낮아지면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tail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이 떨어진다는 인과관계를 그대로 따라가고 있는 겁니다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아래는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RTT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입니다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혼잡 상태에서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Baseline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EMQX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RTT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가 수백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ms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까지 치솟고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,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CUBIC+CoDel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은 그보다는 낮지만 여전히 높은 구간에 머무르고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en-US" altLang="ko-KR" sz="1200" b="1" i="0" kern="1200" dirty="0" err="1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eMQTT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-RL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은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RTT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도 상대적으로 가장 낮고 안정적인 형태를 유지합니다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오른쪽에는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RL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에이전트의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CPU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오버헤드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를 같이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적어놨습니다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코어 기준으로 측정했을 때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평균 사용률이 약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1%,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피크도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3%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미만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이라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커널 신호 수집과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RL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제어를 돌려도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시스템 입장에서 부담되지 않습니다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E62E1-8A86-4C13-A7F8-E86B8EB88E4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9899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그래서 정리하자면 먼저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Baseline → EMQX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바꿧을땐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p99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지연이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47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초에서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20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초로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 줄어서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겉으로 보면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2.3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배 좋아진 것처럼 보입니다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그리고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눙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_ratio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95.5% → 81.9%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줄었지만 여전히 거의 꽉 찬 상태라</a:t>
            </a:r>
            <a:b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</a:b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버퍼 대부분이 넘쳐 있는 구조는 그대로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그래서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p99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도 결국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20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초에서 멈춥니다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b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아래는 여기에 </a:t>
            </a:r>
            <a:r>
              <a:rPr lang="en-US" altLang="ko-KR" sz="1200" b="1" i="0" kern="1200" dirty="0" err="1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eBPF+RL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을 붙인 경우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커널 레벨 신호를 보고 제어했을 때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p99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가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20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초에서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0.3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초로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,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약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65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배 추가 개선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이 일어나고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,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</a:b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snd_ratio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81.9% → 2.3%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까지 떨어져서</a:t>
            </a:r>
            <a:b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</a:b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버퍼 압력을 거의 제거하면서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p99 tail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이 안정화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된 걸 볼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</a:p>
          <a:p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단순히 브로커 설정이나 애플리케이션 신호만으로는 지연을 제어할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수업속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커널 신호 기반 제어가 필요하다는 걸 실험으로 보여준 결과입니다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</a:p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E62E1-8A86-4C13-A7F8-E86B8EB88E4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183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먼저 한계부터 말씀드리겠습니다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혼잡 네트워크 환경에서는 </a:t>
            </a:r>
            <a:r>
              <a:rPr lang="en-US" altLang="ko-KR" sz="1200" b="1" i="0" kern="1200" dirty="0" err="1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eBPF+RL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이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p99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를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0.3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초까지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 확실히 낮춰 주지만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,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그 과정에서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일부 구간에서는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EMQX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기본 설정보다 처리량이 줄어드는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 문제가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지금 정책이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무조건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tail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을 먼저 줄이는 방향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으로만 학습돼 있어서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,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p99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는 잘 잡는데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p99 ↔ throughput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사이의 균형을 조절하는 학습과정이 필요합니다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br>
              <a:rPr lang="ko-KR" altLang="en-US" dirty="0">
                <a:latin typeface="+mj-ea"/>
                <a:ea typeface="+mj-ea"/>
              </a:rPr>
            </a:b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향후 연구에서는 이 부분을 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Tail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억제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+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처리량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유지”라는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두 가지 목표로 다시 설계를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하려고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Mosquitto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HiveMQ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, Kafka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같은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다른 브로커에도 적용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해서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이 방식이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EMQX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에만 통하는 특수 케이스가 아닌지 확인할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또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netem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으로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대역폭 변동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, burst loss, RTT jitter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 같은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더 복잡한 혼잡 시나리오를 만들고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,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실제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Edge/IoT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트래픽 패턴에도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적용하려고합니다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..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E62E1-8A86-4C13-A7F8-E86B8EB88E49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8741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4F929-2EF6-B9A5-3EF1-C24B7E1A2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285FFB-6252-3FED-6B3E-4BC0DAF53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710868-03E7-CA2D-31E4-9C11D4668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D7BDE2-07BE-5AD5-11E0-B3D16FBA1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E62E1-8A86-4C13-A7F8-E86B8EB88E49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930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41300" y="266700"/>
            <a:ext cx="3810000" cy="44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307300" y="152400"/>
            <a:ext cx="3810000" cy="635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482"/>
            <a:ext cx="24384000" cy="13716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 rot="21600000">
            <a:off x="12115800" y="13131800"/>
            <a:ext cx="368300" cy="228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836" b="0" i="0" u="none" strike="noStrike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8300" y="5207000"/>
            <a:ext cx="23647400" cy="3302000"/>
          </a:xfrm>
          <a:prstGeom prst="rect">
            <a:avLst/>
          </a:prstGeom>
        </p:spPr>
        <p:txBody>
          <a:bodyPr lIns="0" tIns="127000" rIns="0" bIns="127000" rtlCol="0" anchor="ctr"/>
          <a:lstStyle/>
          <a:p>
            <a:pPr lvl="0" algn="ctr">
              <a:lnSpc>
                <a:spcPct val="99600"/>
              </a:lnSpc>
            </a:pPr>
            <a:r>
              <a:rPr lang="ko-KR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강화학습을</a:t>
            </a:r>
            <a:r>
              <a:rPr lang="en-US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이용한</a:t>
            </a:r>
            <a:r>
              <a:rPr lang="en-US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sz="10000" b="0" i="0" u="none" strike="noStrike" spc="200" dirty="0" err="1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eBPF</a:t>
            </a:r>
            <a:r>
              <a:rPr lang="en-US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커널</a:t>
            </a:r>
            <a:r>
              <a:rPr lang="en-US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신호</a:t>
            </a:r>
            <a:r>
              <a:rPr lang="en-US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기반</a:t>
            </a:r>
            <a:r>
              <a:rPr lang="en-US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MQTT </a:t>
            </a:r>
            <a:r>
              <a:rPr lang="ko-KR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꼬리</a:t>
            </a:r>
            <a:r>
              <a:rPr lang="en-US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지연</a:t>
            </a:r>
            <a:r>
              <a:rPr lang="en-US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제어에</a:t>
            </a:r>
            <a:r>
              <a:rPr lang="en-US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관한</a:t>
            </a:r>
            <a:r>
              <a:rPr lang="en-US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10000" b="0" i="0" u="none" strike="noStrike" spc="2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연구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54700" y="8940800"/>
            <a:ext cx="12674600" cy="457200"/>
          </a:xfrm>
          <a:prstGeom prst="rect">
            <a:avLst/>
          </a:prstGeom>
        </p:spPr>
        <p:txBody>
          <a:bodyPr lIns="0" tIns="15446" rIns="0" bIns="15446" rtlCol="0" anchor="ctr"/>
          <a:lstStyle/>
          <a:p>
            <a:pPr lvl="0" algn="ctr">
              <a:lnSpc>
                <a:spcPct val="107899"/>
              </a:lnSpc>
            </a:pPr>
            <a:r>
              <a:rPr lang="ko-KR" sz="2432" b="0" i="0" u="none" strike="noStrike" spc="49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경북대학교</a:t>
            </a:r>
            <a:r>
              <a:rPr lang="en-US" sz="2432" b="0" i="0" u="none" strike="noStrike" spc="49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2432" b="0" i="0" u="none" strike="noStrike" spc="49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컴퓨터학부</a:t>
            </a:r>
            <a:r>
              <a:rPr lang="en-US" sz="2432" b="0" i="0" u="none" strike="noStrike" spc="49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  |  </a:t>
            </a:r>
            <a:r>
              <a:rPr lang="ko-KR" sz="2432" b="0" i="0" u="none" strike="noStrike" spc="49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정진욱</a:t>
            </a:r>
            <a:r>
              <a:rPr lang="en-US" sz="2432" b="0" i="0" u="none" strike="noStrike" spc="49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  |  </a:t>
            </a:r>
            <a:r>
              <a:rPr lang="ko-KR" sz="2432" b="0" i="0" u="none" strike="noStrike" spc="49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지도교수</a:t>
            </a:r>
            <a:r>
              <a:rPr lang="en-US" sz="2432" b="0" i="0" u="none" strike="noStrike" spc="49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: </a:t>
            </a:r>
            <a:r>
              <a:rPr lang="ko-KR" sz="2432" b="0" i="0" u="none" strike="noStrike" spc="49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권영우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0" y="13576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1300" y="266700"/>
            <a:ext cx="3810000" cy="444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307300" y="152400"/>
            <a:ext cx="3810000" cy="635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9100" y="7366000"/>
            <a:ext cx="102108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49100" y="8534400"/>
            <a:ext cx="102108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49100" y="9715500"/>
            <a:ext cx="102108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49100" y="10883900"/>
            <a:ext cx="102108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41400" y="1346200"/>
            <a:ext cx="7734300" cy="1460500"/>
          </a:xfrm>
          <a:prstGeom prst="rect">
            <a:avLst/>
          </a:prstGeom>
        </p:spPr>
        <p:txBody>
          <a:bodyPr lIns="0" tIns="104271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8210" b="0" i="0" u="none" strike="noStrike" spc="-246" dirty="0">
                <a:solidFill>
                  <a:srgbClr val="C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CONTENTS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77831" y="2765534"/>
            <a:ext cx="9588500" cy="25146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en-US" altLang="ko-KR" sz="2533" b="0" i="0" u="none" strike="noStrike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IoT </a:t>
            </a:r>
            <a:r>
              <a:rPr lang="ko-KR" altLang="en-US" sz="2533" b="0" i="0" u="none" strike="noStrike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기기 </a:t>
            </a:r>
            <a:r>
              <a:rPr lang="ko-KR" altLang="en-US" sz="2533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증가</a:t>
            </a:r>
            <a:r>
              <a:rPr lang="ko-KR" altLang="en-US" sz="2533" b="0" i="0" u="none" strike="noStrike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로 중앙 브로커에 병목이 생기고</a:t>
            </a:r>
            <a:r>
              <a:rPr lang="en-US" altLang="ko-KR" sz="2533" b="0" i="0" u="none" strike="noStrike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p99 </a:t>
            </a:r>
            <a:r>
              <a:rPr lang="ko-KR" altLang="en-US" sz="2533" b="0" i="0" u="none" strike="noStrike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꼬리 지연이 실시간 처리의 한계로 드러납니다</a:t>
            </a:r>
            <a:r>
              <a:rPr lang="en-US" altLang="ko-KR" sz="2533" b="0" i="0" u="none" strike="noStrike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 </a:t>
            </a:r>
            <a:r>
              <a:rPr lang="ko-KR" altLang="en-US" sz="2533" b="0" i="0" u="none" strike="noStrike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하지만 </a:t>
            </a:r>
            <a:r>
              <a:rPr lang="ko-KR" altLang="en-US" sz="2533" b="0" i="0" u="none" strike="noStrike" spc="-127" dirty="0">
                <a:solidFill>
                  <a:schemeClr val="accen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애플리케이션 로그와 브로커 </a:t>
            </a:r>
            <a:r>
              <a:rPr lang="ko-KR" altLang="en-US" sz="2533" b="0" i="0" u="none" strike="noStrike" spc="-127" dirty="0" err="1">
                <a:solidFill>
                  <a:schemeClr val="accen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메트릭만으로는</a:t>
            </a:r>
            <a:r>
              <a:rPr lang="ko-KR" altLang="en-US" sz="2533" b="0" i="0" u="none" strike="noStrike" spc="-127" dirty="0">
                <a:solidFill>
                  <a:schemeClr val="accen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커널 </a:t>
            </a:r>
            <a:r>
              <a:rPr lang="en-US" altLang="ko-KR" sz="2533" b="0" i="0" u="none" strike="noStrike" spc="-127" dirty="0">
                <a:solidFill>
                  <a:schemeClr val="accen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TCP </a:t>
            </a:r>
            <a:r>
              <a:rPr lang="ko-KR" altLang="en-US" sz="2533" b="0" i="0" u="none" strike="noStrike" spc="-127" dirty="0">
                <a:solidFill>
                  <a:schemeClr val="accen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버퍼 상태를 볼 수 없어 </a:t>
            </a:r>
            <a:r>
              <a:rPr lang="en-US" altLang="ko-KR" sz="2533" b="0" i="0" u="none" strike="noStrike" spc="-127" dirty="0">
                <a:solidFill>
                  <a:schemeClr val="accen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Tail </a:t>
            </a:r>
            <a:r>
              <a:rPr lang="ko-KR" altLang="en-US" sz="2533" b="0" i="0" u="none" strike="noStrike" spc="-127" dirty="0">
                <a:solidFill>
                  <a:schemeClr val="accen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지연을 제어하기 어렵습니다</a:t>
            </a:r>
            <a:r>
              <a:rPr lang="en-US" altLang="ko-KR" sz="2533" b="0" i="0" u="none" strike="noStrike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 </a:t>
            </a:r>
            <a:r>
              <a:rPr lang="ko-KR" altLang="en-US" sz="2533" b="0" i="0" u="none" strike="noStrike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본 연구는 </a:t>
            </a:r>
            <a:r>
              <a:rPr lang="en-US" altLang="ko-KR" sz="2533" b="0" i="0" u="none" strike="noStrike" spc="-127" dirty="0" err="1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eBPF</a:t>
            </a:r>
            <a:r>
              <a:rPr lang="en-US" altLang="ko-KR" sz="2533" b="0" i="0" u="none" strike="noStrike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2533" b="0" i="0" u="none" strike="noStrike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기반 커널 관측과 강화학습 제어를 결합해</a:t>
            </a:r>
            <a:r>
              <a:rPr lang="en-US" altLang="ko-KR" sz="2533" b="0" i="0" u="none" strike="noStrike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2533" b="0" i="0" u="none" strike="noStrike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혼잡 네트워크에서도 </a:t>
            </a:r>
            <a:r>
              <a:rPr lang="en-US" altLang="ko-KR" sz="2533" b="0" i="0" u="none" strike="noStrike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MQTT Tail Latency</a:t>
            </a:r>
            <a:r>
              <a:rPr lang="ko-KR" altLang="en-US" sz="2533" b="0" i="0" u="none" strike="noStrike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를 </a:t>
            </a:r>
            <a:r>
              <a:rPr lang="en-US" altLang="ko-KR" sz="2533" b="0" i="0" u="none" strike="noStrike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SLO </a:t>
            </a:r>
            <a:r>
              <a:rPr lang="ko-KR" altLang="en-US" sz="2533" b="0" i="0" u="none" strike="noStrike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수준까지 낮추는 방법을 제안합니다</a:t>
            </a:r>
            <a:r>
              <a:rPr lang="en-US" altLang="ko-KR" sz="2533" b="0" i="0" u="none" strike="noStrike" spc="-127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  <a:endParaRPr lang="en-US" sz="2533" b="0" i="0" u="none" strike="noStrike" spc="-127" dirty="0">
              <a:solidFill>
                <a:srgbClr val="00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065000" y="7810500"/>
            <a:ext cx="9906000" cy="609600"/>
          </a:xfrm>
          <a:prstGeom prst="rect">
            <a:avLst/>
          </a:prstGeom>
        </p:spPr>
        <p:txBody>
          <a:bodyPr lIns="0" tIns="43124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관련</a:t>
            </a:r>
            <a:r>
              <a:rPr lang="en-US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연구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65000" y="8966200"/>
            <a:ext cx="9906000" cy="660400"/>
          </a:xfrm>
          <a:prstGeom prst="rect">
            <a:avLst/>
          </a:prstGeom>
        </p:spPr>
        <p:txBody>
          <a:bodyPr lIns="0" tIns="43124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3395" b="0" i="0" u="none" strike="noStrike" spc="-102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방법론 및 </a:t>
            </a:r>
            <a:r>
              <a:rPr lang="ko-KR" altLang="en-US" sz="3395" spc="-102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시스템 소개</a:t>
            </a:r>
            <a:endParaRPr lang="ko-KR" altLang="ko-KR" sz="3395" b="0" i="0" u="none" strike="noStrike" spc="-102" dirty="0">
              <a:solidFill>
                <a:srgbClr val="00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065000" y="10134600"/>
            <a:ext cx="9906000" cy="660400"/>
          </a:xfrm>
          <a:prstGeom prst="rect">
            <a:avLst/>
          </a:prstGeom>
        </p:spPr>
        <p:txBody>
          <a:bodyPr lIns="0" tIns="43124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sz="3395" b="0" i="0" u="none" strike="noStrike" spc="-102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실험</a:t>
            </a:r>
            <a:r>
              <a:rPr lang="en-US" sz="3395" b="0" i="0" u="none" strike="noStrike" spc="-102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395" b="0" i="0" u="none" strike="noStrike" spc="-102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및</a:t>
            </a:r>
            <a:r>
              <a:rPr lang="en-US" sz="3395" b="0" i="0" u="none" strike="noStrike" spc="-102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395" b="0" i="0" u="none" strike="noStrike" spc="-102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결과</a:t>
            </a:r>
            <a:r>
              <a:rPr lang="en-US" sz="3395" b="0" i="0" u="none" strike="noStrike" spc="-102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395" b="0" i="0" u="none" strike="noStrike" spc="-102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65000" y="11303000"/>
            <a:ext cx="9906000" cy="660400"/>
          </a:xfrm>
          <a:prstGeom prst="rect">
            <a:avLst/>
          </a:prstGeom>
        </p:spPr>
        <p:txBody>
          <a:bodyPr lIns="0" tIns="43124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결론</a:t>
            </a:r>
            <a:r>
              <a:rPr lang="en-US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및</a:t>
            </a:r>
            <a:r>
              <a:rPr lang="en-US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향후</a:t>
            </a:r>
            <a:r>
              <a:rPr lang="en-US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연구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65000" y="6642100"/>
            <a:ext cx="9906000" cy="609600"/>
          </a:xfrm>
          <a:prstGeom prst="rect">
            <a:avLst/>
          </a:prstGeom>
        </p:spPr>
        <p:txBody>
          <a:bodyPr lIns="0" tIns="43124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연구</a:t>
            </a:r>
            <a:r>
              <a:rPr lang="en-US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배경</a:t>
            </a:r>
            <a:r>
              <a:rPr lang="en-US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및</a:t>
            </a:r>
            <a:r>
              <a:rPr lang="en-US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문제</a:t>
            </a:r>
            <a:r>
              <a:rPr lang="en-US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395" b="0" i="0" u="none" strike="noStrike" spc="-10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정의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20500" y="6680200"/>
            <a:ext cx="622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666" b="0" i="0" u="none" strike="noStrike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20500" y="7848600"/>
            <a:ext cx="622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666" b="0" i="0" u="none" strike="noStrike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620500" y="9017000"/>
            <a:ext cx="622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666" b="0" i="0" u="none" strike="noStrike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620500" y="10185400"/>
            <a:ext cx="622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666" b="0" i="0" u="none" strike="noStrike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20500" y="11366500"/>
            <a:ext cx="622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666" b="0" i="0" u="none" strike="noStrike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5</a:t>
            </a:r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91E054CB-D21A-435D-BB02-866F4ACDD143}"/>
              </a:ext>
            </a:extLst>
          </p:cNvPr>
          <p:cNvSpPr txBox="1"/>
          <p:nvPr/>
        </p:nvSpPr>
        <p:spPr>
          <a:xfrm>
            <a:off x="12115800" y="13131800"/>
            <a:ext cx="368300" cy="228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836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</a:t>
            </a:r>
            <a:endParaRPr lang="en" sz="1836" b="0" i="0" u="none" strike="noStrike" dirty="0">
              <a:solidFill>
                <a:srgbClr val="00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1300" y="266700"/>
            <a:ext cx="3810000" cy="444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307300" y="152400"/>
            <a:ext cx="3810000" cy="635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17500" y="1498600"/>
            <a:ext cx="8559800" cy="850900"/>
          </a:xfrm>
          <a:prstGeom prst="rect">
            <a:avLst/>
          </a:prstGeom>
        </p:spPr>
        <p:txBody>
          <a:bodyPr lIns="0" tIns="609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IoT </a:t>
            </a:r>
            <a:r>
              <a:rPr lang="ko-KR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확산과</a:t>
            </a:r>
            <a:r>
              <a:rPr lang="en-US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MQTT</a:t>
            </a:r>
            <a:r>
              <a:rPr lang="ko-KR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의</a:t>
            </a:r>
            <a:r>
              <a:rPr lang="en-US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한계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6000" y="1117600"/>
            <a:ext cx="1371600" cy="3810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133" b="0" i="0" u="none" strike="noStrike" dirty="0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연구배경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0000" y="8813800"/>
            <a:ext cx="6629400" cy="876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2100" y="8864600"/>
            <a:ext cx="6629400" cy="876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7600" y="8864600"/>
            <a:ext cx="6629400" cy="876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9400" y="4343400"/>
            <a:ext cx="6642100" cy="4330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362950" y="9954491"/>
            <a:ext cx="7658100" cy="13843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트래픽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집중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브로커</a:t>
            </a:r>
            <a:r>
              <a:rPr lang="en-US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큐에</a:t>
            </a:r>
            <a:r>
              <a:rPr lang="en-US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메시지</a:t>
            </a:r>
            <a:r>
              <a:rPr lang="en-US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정체</a:t>
            </a:r>
            <a:b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평균보다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최악</a:t>
            </a:r>
            <a:r>
              <a:rPr lang="en-US" sz="3200" b="0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응답</a:t>
            </a:r>
            <a:r>
              <a:rPr lang="en-US" sz="3200" b="0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(p99)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시스템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품질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결정</a:t>
            </a:r>
            <a:b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실시간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IoT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서비스에서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꼬리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지연이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치명적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97400" y="9004300"/>
            <a:ext cx="5067300" cy="495300"/>
          </a:xfrm>
          <a:prstGeom prst="rect">
            <a:avLst/>
          </a:prstGeom>
        </p:spPr>
        <p:txBody>
          <a:bodyPr lIns="0" tIns="34713" rIns="0" bIns="34713" rtlCol="0" anchor="ctr"/>
          <a:lstStyle/>
          <a:p>
            <a:pPr lvl="0" algn="ctr">
              <a:lnSpc>
                <a:spcPct val="99600"/>
              </a:lnSpc>
            </a:pPr>
            <a:r>
              <a:rPr lang="ko-KR" sz="3200" b="0" i="0" u="none" strike="noStrike" spc="-8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기존</a:t>
            </a:r>
            <a:r>
              <a:rPr lang="en-US" sz="3200" b="0" i="0" u="none" strike="noStrike" spc="-8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200" b="0" i="0" u="none" strike="noStrike" spc="-8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해결</a:t>
            </a:r>
            <a:r>
              <a:rPr lang="en-US" sz="3200" b="0" i="0" u="none" strike="noStrike" spc="-8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200" b="0" i="0" u="none" strike="noStrike" spc="-8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시도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99773" y="10530032"/>
            <a:ext cx="8610600" cy="20447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동시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미확인</a:t>
            </a:r>
            <a:r>
              <a:rPr lang="en-US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메시지</a:t>
            </a:r>
            <a:r>
              <a:rPr lang="en-US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</a:t>
            </a:r>
            <a:r>
              <a:rPr lang="en-US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(in-flight) </a:t>
            </a:r>
            <a:r>
              <a:rPr lang="ko-KR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제한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
       =&gt;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브로커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큐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폭증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억제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평균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지연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일부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개선</a:t>
            </a:r>
            <a:b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한계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p99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꼬리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지연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지속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sz="3200" b="0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고정</a:t>
            </a:r>
            <a:r>
              <a:rPr lang="en-US" sz="3200" b="0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 err="1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임계값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
</a:t>
            </a:r>
          </a:p>
          <a:p>
            <a:pPr lvl="0" algn="ctr">
              <a:lnSpc>
                <a:spcPct val="124499"/>
              </a:lnSpc>
            </a:pPr>
            <a:endParaRPr lang="en-US" sz="3200" b="0" i="0" u="none" strike="noStrike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336800" y="9042400"/>
            <a:ext cx="5067300" cy="495300"/>
          </a:xfrm>
          <a:prstGeom prst="rect">
            <a:avLst/>
          </a:prstGeom>
        </p:spPr>
        <p:txBody>
          <a:bodyPr lIns="0" tIns="34713" rIns="0" bIns="34713" rtlCol="0" anchor="ctr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spc="-82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MQTT </a:t>
            </a:r>
            <a:r>
              <a:rPr lang="ko-KR" sz="3200" b="0" i="0" u="none" strike="noStrike" spc="-82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프로토콜의</a:t>
            </a:r>
            <a:r>
              <a:rPr lang="en-US" sz="3200" b="0" i="0" u="none" strike="noStrike" spc="-82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200" b="0" i="0" u="none" strike="noStrike" spc="-82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중요성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0400" y="9954491"/>
            <a:ext cx="8432800" cy="13716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IoT/Edge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환경의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표준</a:t>
            </a:r>
            <a:r>
              <a:rPr lang="en-US" sz="3200" b="0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프로토콜</a:t>
            </a:r>
          </a:p>
          <a:p>
            <a:pPr lvl="0" algn="ctr">
              <a:lnSpc>
                <a:spcPct val="124499"/>
              </a:lnSpc>
            </a:pP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경량성과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발행</a:t>
            </a:r>
            <a:r>
              <a:rPr lang="en-US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구독</a:t>
            </a:r>
            <a:r>
              <a:rPr lang="en-US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구조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
MQTT Sparkplug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등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 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생태계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25000" y="9042400"/>
            <a:ext cx="5067300" cy="495300"/>
          </a:xfrm>
          <a:prstGeom prst="rect">
            <a:avLst/>
          </a:prstGeom>
        </p:spPr>
        <p:txBody>
          <a:bodyPr lIns="0" tIns="34713" rIns="0" bIns="34713" rtlCol="0" anchor="ctr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spc="-8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Tail Latency </a:t>
            </a:r>
            <a:r>
              <a:rPr lang="ko-KR" sz="3200" b="0" i="0" u="none" strike="noStrike" spc="-82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문제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00" y="4305300"/>
            <a:ext cx="6642100" cy="4330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7600" y="4343400"/>
            <a:ext cx="6629400" cy="4152900"/>
          </a:xfrm>
          <a:prstGeom prst="rect">
            <a:avLst/>
          </a:prstGeom>
        </p:spPr>
      </p:pic>
      <p:sp>
        <p:nvSpPr>
          <p:cNvPr id="19" name="TextBox 8">
            <a:extLst>
              <a:ext uri="{FF2B5EF4-FFF2-40B4-BE49-F238E27FC236}">
                <a16:creationId xmlns:a16="http://schemas.microsoft.com/office/drawing/2014/main" id="{B946EE39-C4E1-4451-B3A6-84951F87ED2F}"/>
              </a:ext>
            </a:extLst>
          </p:cNvPr>
          <p:cNvSpPr txBox="1"/>
          <p:nvPr/>
        </p:nvSpPr>
        <p:spPr>
          <a:xfrm>
            <a:off x="12115800" y="13131800"/>
            <a:ext cx="368300" cy="228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836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1300" y="230605"/>
            <a:ext cx="3810000" cy="444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307300" y="116305"/>
            <a:ext cx="3810000" cy="635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65200" y="1462505"/>
            <a:ext cx="5105400" cy="850900"/>
          </a:xfrm>
          <a:prstGeom prst="rect">
            <a:avLst/>
          </a:prstGeom>
        </p:spPr>
        <p:txBody>
          <a:bodyPr lIns="0" tIns="609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Observability Gap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6000" y="1081505"/>
            <a:ext cx="1371600" cy="3810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문제정의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290117"/>
              </p:ext>
            </p:extLst>
          </p:nvPr>
        </p:nvGraphicFramePr>
        <p:xfrm>
          <a:off x="5092700" y="4027905"/>
          <a:ext cx="12758505" cy="5983609"/>
        </p:xfrm>
        <a:graphic>
          <a:graphicData uri="http://schemas.openxmlformats.org/drawingml/2006/table">
            <a:tbl>
              <a:tblPr/>
              <a:tblGrid>
                <a:gridCol w="5354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8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31148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ko-KR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신호</a:t>
                      </a:r>
                      <a:r>
                        <a:rPr 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 (Metrics)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EMQX (App-level)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eBPF (Kernel)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935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Message Queue Depth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✓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✓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348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In-flight Count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✓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✓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348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QoS ACK Status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 dirty="0">
                          <a:solidFill>
                            <a:srgbClr val="1F1F1F"/>
                          </a:solidFill>
                          <a:ea typeface="Pretendard Regular"/>
                        </a:rPr>
                        <a:t>✓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 dirty="0">
                          <a:solidFill>
                            <a:srgbClr val="1F1F1F"/>
                          </a:solidFill>
                          <a:ea typeface="Pretendard Regular"/>
                        </a:rPr>
                        <a:t>✓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348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TCP Send Buffer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 dirty="0">
                          <a:solidFill>
                            <a:srgbClr val="1F1F1F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Arial" panose="020B0604020202020204" pitchFamily="34" charset="0"/>
                        </a:rPr>
                        <a:t>✖</a:t>
                      </a:r>
                      <a:endParaRPr lang="en-US" sz="1100" dirty="0">
                        <a:solidFill>
                          <a:srgbClr val="1F1F1F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✓ snd_ratio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348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TCP Recv Buffer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 dirty="0">
                          <a:solidFill>
                            <a:srgbClr val="1F1F1F"/>
                          </a:solidFill>
                          <a:ea typeface="Pretendard Regular"/>
                        </a:rPr>
                        <a:t>✖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✓ rcv_ratio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348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Kernel RTT (srtt_us)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✖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✓ rtt_us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2348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Retrans Queue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✖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✓ retrans_out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2348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Congestion Score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✖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-US" sz="2933" b="0" i="0" u="none" strike="noStrike" dirty="0">
                          <a:solidFill>
                            <a:srgbClr val="1F1F1F"/>
                          </a:solidFill>
                          <a:ea typeface="Pretendard Regular"/>
                        </a:rPr>
                        <a:t>✓ </a:t>
                      </a:r>
                      <a:r>
                        <a:rPr lang="ko-KR" sz="2933" b="0" i="0" u="none" strike="noStrike" dirty="0">
                          <a:solidFill>
                            <a:srgbClr val="1F1F1F"/>
                          </a:solidFill>
                          <a:ea typeface="Pretendard Regular"/>
                        </a:rPr>
                        <a:t>직접</a:t>
                      </a:r>
                      <a:r>
                        <a:rPr lang="en-US" sz="2933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933" b="0" i="0" u="none" strike="noStrike" dirty="0">
                          <a:solidFill>
                            <a:srgbClr val="1F1F1F"/>
                          </a:solidFill>
                          <a:ea typeface="Pretendard Regular"/>
                        </a:rPr>
                        <a:t>계산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4876800" y="10098505"/>
            <a:ext cx="13449300" cy="546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Application-level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은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TCP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커널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상태를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볼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수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없다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A69D71-E7BA-4868-B590-0DCA141D59E8}"/>
              </a:ext>
            </a:extLst>
          </p:cNvPr>
          <p:cNvSpPr txBox="1"/>
          <p:nvPr/>
        </p:nvSpPr>
        <p:spPr>
          <a:xfrm>
            <a:off x="12115800" y="13131800"/>
            <a:ext cx="368300" cy="228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836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1300" y="266700"/>
            <a:ext cx="3810000" cy="444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307300" y="152400"/>
            <a:ext cx="3810000" cy="635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65200" y="1498600"/>
            <a:ext cx="6057900" cy="850900"/>
          </a:xfrm>
          <a:prstGeom prst="rect">
            <a:avLst/>
          </a:prstGeom>
        </p:spPr>
        <p:txBody>
          <a:bodyPr lIns="0" tIns="609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신호와 지연의 인과 관계 </a:t>
            </a:r>
            <a:endParaRPr lang="ko-KR" sz="4799" b="1" i="0" u="none" strike="noStrike" spc="-144" dirty="0">
              <a:solidFill>
                <a:srgbClr val="FC523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16000" y="1130300"/>
            <a:ext cx="1371600" cy="3810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관련연구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93982" y="10793640"/>
            <a:ext cx="9923318" cy="1485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0310"/>
              </a:lnSpc>
            </a:pPr>
            <a:r>
              <a:rPr lang="en" sz="3200" b="0" i="0" u="none" strike="noStrike" spc="-59" dirty="0">
                <a:solidFill>
                  <a:srgbClr val="509BF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4</a:t>
            </a:r>
            <a:r>
              <a:rPr lang="en-US" sz="3200" b="0" i="0" u="none" strike="noStrike" spc="-59" dirty="0">
                <a:solidFill>
                  <a:srgbClr val="1A1A1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sz="3200" b="0" i="0" u="none" strike="noStrike" spc="-59" dirty="0" err="1">
                <a:solidFill>
                  <a:srgbClr val="1A1A1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Bufferbloat</a:t>
            </a:r>
            <a:r>
              <a:rPr lang="en-US" sz="3200" b="0" i="0" u="none" strike="noStrike" spc="-59" dirty="0">
                <a:solidFill>
                  <a:srgbClr val="1A1A1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200" b="0" i="0" u="none" strike="noStrike" spc="-59" dirty="0">
                <a:solidFill>
                  <a:srgbClr val="1A1A1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연구</a:t>
            </a:r>
            <a:r>
              <a:rPr lang="en-US" sz="3200" b="0" i="0" u="none" strike="noStrike" spc="-59" dirty="0">
                <a:solidFill>
                  <a:srgbClr val="1A1A1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AQM(</a:t>
            </a:r>
            <a:r>
              <a:rPr lang="en-US" sz="3200" b="0" i="0" u="none" strike="noStrike" spc="-59" dirty="0" err="1">
                <a:solidFill>
                  <a:srgbClr val="1A1A1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CoDel</a:t>
            </a:r>
            <a:r>
              <a:rPr lang="en-US" sz="3200" b="0" i="0" u="none" strike="noStrike" spc="-59" dirty="0">
                <a:solidFill>
                  <a:srgbClr val="1A1A1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/PIE)</a:t>
            </a:r>
          </a:p>
          <a:p>
            <a:pPr lvl="0" algn="l">
              <a:lnSpc>
                <a:spcPct val="130310"/>
              </a:lnSpc>
            </a:pP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리틀의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법칙으로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큐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지연이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큐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길이에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비례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
 - </a:t>
            </a:r>
            <a:r>
              <a:rPr lang="ko-KR" alt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2800" b="0" i="0" u="none" strike="noStrike" spc="-48" dirty="0" err="1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snd_ratio</a:t>
            </a:r>
            <a:r>
              <a:rPr lang="ko-KR" alt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</a:t>
            </a:r>
            <a:r>
              <a:rPr lang="en-US" alt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1.0 </a:t>
            </a:r>
            <a:r>
              <a:rPr lang="ko-KR" alt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근처까지 치솟지 않도록 유지</a:t>
            </a:r>
            <a:endParaRPr lang="ko-KR" sz="2800" b="0" i="0" u="none" strike="noStrike" spc="-48" dirty="0">
              <a:solidFill>
                <a:srgbClr val="1A1A1A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200" y="2493736"/>
            <a:ext cx="5486400" cy="384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5982" y="8553904"/>
            <a:ext cx="5486400" cy="1866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30400" y="6428468"/>
            <a:ext cx="10804072" cy="1473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0310"/>
              </a:lnSpc>
            </a:pPr>
            <a:r>
              <a:rPr lang="en" sz="3200" b="0" i="0" u="none" strike="noStrike" spc="-59" dirty="0">
                <a:solidFill>
                  <a:srgbClr val="509BF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 </a:t>
            </a:r>
            <a:r>
              <a:rPr lang="en" sz="3200" b="0" i="0" u="none" strike="noStrike" spc="-59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Low Latency TCP-Based Media Streams (IWQOS’02)</a:t>
            </a:r>
            <a:br>
              <a:rPr lang="en" sz="2933" b="0" i="0" u="none" strike="noStrike" spc="-59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송신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버퍼가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크면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지연이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선형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증가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버퍼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튜닝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동적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제어로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p99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대폭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하락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
- Send Buffer Depth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자체가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지연의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직접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원인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변수</a:t>
            </a:r>
            <a:endParaRPr lang="ko-KR" sz="2400" b="0" i="0" u="none" strike="noStrike" spc="-48" dirty="0">
              <a:solidFill>
                <a:srgbClr val="1A1A1A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35868" y="10420804"/>
            <a:ext cx="10437132" cy="216489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0310"/>
              </a:lnSpc>
            </a:pPr>
            <a:r>
              <a:rPr lang="en" sz="3200" b="0" i="0" u="none" strike="noStrike" spc="-59" dirty="0">
                <a:solidFill>
                  <a:srgbClr val="509BF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</a:t>
            </a:r>
            <a:r>
              <a:rPr lang="en-US" sz="3200" b="0" i="0" u="none" strike="noStrike" spc="-59" dirty="0">
                <a:solidFill>
                  <a:srgbClr val="1A1A1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TIMELY (SIGCOMM’15, RTT </a:t>
            </a:r>
            <a:r>
              <a:rPr lang="ko-KR" sz="3200" b="0" i="0" u="none" strike="noStrike" spc="-59" dirty="0">
                <a:solidFill>
                  <a:srgbClr val="1A1A1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기반</a:t>
            </a:r>
            <a:r>
              <a:rPr lang="en-US" sz="3200" b="0" i="0" u="none" strike="noStrike" spc="-59" dirty="0">
                <a:solidFill>
                  <a:srgbClr val="1A1A1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CC)</a:t>
            </a:r>
          </a:p>
          <a:p>
            <a:pPr lvl="0" algn="l">
              <a:lnSpc>
                <a:spcPct val="130310"/>
              </a:lnSpc>
            </a:pP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RTT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미세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상승을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혼잡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신호로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사용하면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short flow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tail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크게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개선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
- 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RTT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꼬리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지연의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강력한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선행지표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-&gt; ΔRTT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민감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제어가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필수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17702" y="1663246"/>
            <a:ext cx="5486400" cy="25146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3985422" y="4145189"/>
            <a:ext cx="9166679" cy="1485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0310"/>
              </a:lnSpc>
            </a:pPr>
            <a:r>
              <a:rPr lang="en" sz="3200" b="0" i="0" u="none" strike="noStrike" spc="-59" dirty="0">
                <a:solidFill>
                  <a:srgbClr val="509BF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</a:t>
            </a:r>
            <a:r>
              <a:rPr lang="en" sz="3200" b="0" i="0" u="none" strike="noStrike" spc="-59" dirty="0">
                <a:solidFill>
                  <a:srgbClr val="1A1A1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DCTCP / Shallow Queueing (SIGCOMM’10)</a:t>
            </a:r>
          </a:p>
          <a:p>
            <a:pPr lvl="0" algn="l">
              <a:lnSpc>
                <a:spcPct val="130310"/>
              </a:lnSpc>
            </a:pP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큐점유를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낮게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유지하면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p95/p99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</a:t>
            </a:r>
            <a:r>
              <a:rPr lang="en-US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급락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
- Queue Occupancy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tail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직접</a:t>
            </a:r>
            <a:r>
              <a:rPr lang="en-US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2800" b="0" i="0" u="none" strike="noStrike" spc="-48" dirty="0">
                <a:solidFill>
                  <a:srgbClr val="1A1A1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만든다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503318" y="6312354"/>
            <a:ext cx="5486400" cy="4483100"/>
          </a:xfrm>
          <a:prstGeom prst="rect">
            <a:avLst/>
          </a:prstGeom>
        </p:spPr>
      </p:pic>
      <p:sp>
        <p:nvSpPr>
          <p:cNvPr id="16" name="TextBox 8">
            <a:extLst>
              <a:ext uri="{FF2B5EF4-FFF2-40B4-BE49-F238E27FC236}">
                <a16:creationId xmlns:a16="http://schemas.microsoft.com/office/drawing/2014/main" id="{91701A42-02AF-4115-9A99-82DD2B1F6855}"/>
              </a:ext>
            </a:extLst>
          </p:cNvPr>
          <p:cNvSpPr txBox="1"/>
          <p:nvPr/>
        </p:nvSpPr>
        <p:spPr>
          <a:xfrm>
            <a:off x="12115800" y="13131800"/>
            <a:ext cx="368300" cy="228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836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1300" y="266700"/>
            <a:ext cx="3810000" cy="444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307300" y="152400"/>
            <a:ext cx="3810000" cy="635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54100" y="2654299"/>
            <a:ext cx="23101300" cy="2564947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66000"/>
              </a:lnSpc>
            </a:pPr>
            <a:r>
              <a:rPr lang="en-US" sz="3200" b="0" i="0" u="none" strike="noStrike" spc="56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Diagnosing Application-network Anomalies for Millions of IPs in Production Clouds</a:t>
            </a:r>
            <a:r>
              <a:rPr lang="fr-FR" altLang="ko-KR" sz="3200" dirty="0"/>
              <a:t>(Alibaba Cloud), </a:t>
            </a:r>
            <a:r>
              <a:rPr lang="fr-FR" altLang="ko-KR" sz="3200" b="1" dirty="0"/>
              <a:t>USENIX ATC 2024 </a:t>
            </a:r>
            <a:r>
              <a:rPr lang="en" sz="3200" b="0" i="0" u="none" strike="noStrike" spc="56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
</a:t>
            </a:r>
            <a:r>
              <a:rPr lang="en-US" sz="3200" b="0" i="0" u="none" strike="noStrike" spc="56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</a:t>
            </a:r>
            <a:r>
              <a:rPr lang="ko-KR" altLang="en-US" sz="3200" b="0" i="0" u="none" strike="noStrike" spc="56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대규모 클라우드 상용 환경에서 커널 레벨의 </a:t>
            </a:r>
            <a:r>
              <a:rPr lang="en-US" altLang="ko-KR" sz="3200" b="0" i="0" u="none" strike="noStrike" spc="56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TCP </a:t>
            </a:r>
            <a:r>
              <a:rPr lang="ko-KR" altLang="en-US" sz="3200" b="0" i="0" u="none" strike="noStrike" spc="56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재전송과 </a:t>
            </a:r>
            <a:r>
              <a:rPr lang="en-US" altLang="ko-KR" sz="3200" b="0" i="0" u="none" strike="noStrike" spc="56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RTT </a:t>
            </a:r>
            <a:r>
              <a:rPr lang="ko-KR" altLang="en-US" sz="3200" b="0" i="0" u="none" strike="noStrike" spc="56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변동이 애플리케이션 계층의 성능 저하와 </a:t>
            </a:r>
            <a:r>
              <a:rPr lang="ko-KR" altLang="en-US" sz="3200" spc="56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인</a:t>
            </a:r>
            <a:r>
              <a:rPr lang="ko-KR" altLang="en-US" sz="3200" b="0" i="0" u="none" strike="noStrike" spc="56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과관계가 있음을 입증</a:t>
            </a:r>
            <a:r>
              <a:rPr lang="en-US" sz="3200" b="0" i="0" u="none" strike="noStrike" spc="56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
- </a:t>
            </a:r>
            <a:r>
              <a:rPr lang="ko-KR" altLang="en-US" sz="3200" b="0" i="0" u="none" strike="noStrike" spc="56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기존의 무거운 패킷 덤프 방식 대신</a:t>
            </a:r>
            <a:r>
              <a:rPr lang="en-US" altLang="ko-KR" sz="3200" b="0" i="0" u="none" strike="noStrike" spc="56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en-US" altLang="ko-KR" sz="3200" b="0" i="0" u="none" strike="noStrike" spc="56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eBPF</a:t>
            </a:r>
            <a:r>
              <a:rPr lang="ko-KR" altLang="en-US" sz="3200" b="0" i="0" u="none" strike="noStrike" spc="56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활용하여 오버헤드 없이 실시간으로 미세한 네트워크 병목을 탐지하는 방법론</a:t>
            </a:r>
            <a:endParaRPr lang="en-US" sz="3200" b="0" i="0" u="none" strike="noStrike" spc="56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65200" y="1498600"/>
            <a:ext cx="10236200" cy="850900"/>
          </a:xfrm>
          <a:prstGeom prst="rect">
            <a:avLst/>
          </a:prstGeom>
        </p:spPr>
        <p:txBody>
          <a:bodyPr lIns="0" tIns="609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eBPF </a:t>
            </a: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기반</a:t>
            </a:r>
            <a:r>
              <a:rPr lang="en-US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커널</a:t>
            </a:r>
            <a:r>
              <a:rPr lang="en-US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지표와</a:t>
            </a:r>
            <a:r>
              <a:rPr lang="en-US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지연</a:t>
            </a:r>
            <a:r>
              <a:rPr lang="en-US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상관관계</a:t>
            </a:r>
            <a:r>
              <a:rPr lang="en-US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6000" y="1117600"/>
            <a:ext cx="1371600" cy="3810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관련연구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358326"/>
              </p:ext>
            </p:extLst>
          </p:nvPr>
        </p:nvGraphicFramePr>
        <p:xfrm>
          <a:off x="1016000" y="5574847"/>
          <a:ext cx="22021799" cy="4354408"/>
        </p:xfrm>
        <a:graphic>
          <a:graphicData uri="http://schemas.openxmlformats.org/drawingml/2006/table">
            <a:tbl>
              <a:tblPr/>
              <a:tblGrid>
                <a:gridCol w="454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4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4720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ko-KR" sz="2933" b="0" i="0" u="none" strike="noStrike" dirty="0">
                          <a:solidFill>
                            <a:srgbClr val="1F1F1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커널</a:t>
                      </a:r>
                      <a:r>
                        <a:rPr lang="en-US" sz="2933" b="0" i="0" u="none" strike="noStrike" dirty="0">
                          <a:solidFill>
                            <a:srgbClr val="1F1F1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sz="2933" b="0" i="0" u="none" strike="noStrike" dirty="0">
                          <a:solidFill>
                            <a:srgbClr val="1F1F1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지표</a:t>
                      </a:r>
                      <a:endParaRPr lang="en-US"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ko-KR" sz="2933" b="0" i="0" u="none" strike="noStrike" dirty="0">
                          <a:solidFill>
                            <a:srgbClr val="1F1F1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관측된</a:t>
                      </a:r>
                      <a:r>
                        <a:rPr lang="en-US" sz="2933" b="0" i="0" u="none" strike="noStrike" dirty="0">
                          <a:solidFill>
                            <a:srgbClr val="1F1F1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sz="2933" b="0" i="0" u="none" strike="noStrike" dirty="0">
                          <a:solidFill>
                            <a:srgbClr val="1F1F1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영향</a:t>
                      </a:r>
                      <a:endParaRPr lang="en-US"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해석</a:t>
                      </a:r>
                      <a:endParaRPr lang="en-US" sz="110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109">
                <a:tc>
                  <a:txBody>
                    <a:bodyPr/>
                    <a:lstStyle/>
                    <a:p>
                      <a:pPr algn="ctr"/>
                      <a:r>
                        <a:rPr lang="en-US" sz="3000" b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TCP Retransmission</a:t>
                      </a:r>
                      <a:endParaRPr lang="en-US" sz="300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00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ACK </a:t>
                      </a:r>
                      <a:r>
                        <a:rPr lang="ko-KR" altLang="en-US" sz="300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수신 실패 및 패킷 재전송 급증</a:t>
                      </a: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000" b="1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네트워크 혼잡도 심화</a:t>
                      </a:r>
                      <a:r>
                        <a:rPr lang="en-US" altLang="ko-KR" sz="3000" b="1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(Congestion) </a:t>
                      </a:r>
                      <a:r>
                        <a:rPr lang="ko-KR" altLang="en-US" sz="3000" b="1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및 전송 신뢰성 붕괴의 직접적 증거</a:t>
                      </a:r>
                      <a:endParaRPr lang="ko-KR" altLang="en-US" sz="30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189">
                <a:tc>
                  <a:txBody>
                    <a:bodyPr/>
                    <a:lstStyle/>
                    <a:p>
                      <a:pPr algn="ctr"/>
                      <a:r>
                        <a:rPr lang="en-US" sz="3000" b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RTT Variation (srtt)</a:t>
                      </a:r>
                      <a:endParaRPr lang="en-US" sz="300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30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TCP Handshake </a:t>
                      </a:r>
                      <a:r>
                        <a:rPr lang="ko-KR" altLang="en-US" sz="30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및 왕복 시간의 비정상적 스파이크</a:t>
                      </a: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000" b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물리적 지연 외에 버퍼 내 대기 시간</a:t>
                      </a:r>
                      <a:r>
                        <a:rPr lang="en-US" altLang="ko-KR" sz="3000" b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(Queueing Delay)</a:t>
                      </a:r>
                      <a:r>
                        <a:rPr lang="ko-KR" altLang="en-US" sz="3000" b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이 발생하고 있음을 시사</a:t>
                      </a:r>
                      <a:endParaRPr lang="ko-KR" altLang="en-US" sz="300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8008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Socket Buffer Pressure</a:t>
                      </a:r>
                      <a:endParaRPr lang="en-US" sz="30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00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송수신 버퍼</a:t>
                      </a:r>
                      <a:r>
                        <a:rPr lang="en-US" altLang="ko-KR" sz="300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(SkBuff) </a:t>
                      </a:r>
                      <a:r>
                        <a:rPr lang="ko-KR" altLang="en-US" sz="300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가용 공간 부족</a:t>
                      </a: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000" b="1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애플리케이션 처리 용량 포화</a:t>
                      </a:r>
                      <a:r>
                        <a:rPr lang="en-US" altLang="ko-KR" sz="3000" b="1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(Backpressure) </a:t>
                      </a:r>
                      <a:r>
                        <a:rPr lang="ko-KR" altLang="en-US" sz="3000" b="1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및 병목 구간이 발생했음을 의미</a:t>
                      </a:r>
                      <a:endParaRPr lang="ko-KR" altLang="en-US" sz="30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4756150" y="10284856"/>
            <a:ext cx="15087600" cy="13716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커널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지표가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지연에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직접적인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영향을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미친다는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실증적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근거를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제시한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연구로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</a:t>
            </a:r>
          </a:p>
          <a:p>
            <a:pPr lvl="0" algn="ctr">
              <a:lnSpc>
                <a:spcPct val="116199"/>
              </a:lnSpc>
            </a:pP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본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연구는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이를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sz="3857" b="0" i="0" u="none" strike="noStrike" dirty="0" err="1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eBPF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신호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기반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실시간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제어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(RL) </a:t>
            </a: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로</a:t>
            </a:r>
            <a:r>
              <a:rPr lang="en-US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857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확장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C910B6E8-F988-4496-B496-A1056B323BF9}"/>
              </a:ext>
            </a:extLst>
          </p:cNvPr>
          <p:cNvSpPr txBox="1"/>
          <p:nvPr/>
        </p:nvSpPr>
        <p:spPr>
          <a:xfrm>
            <a:off x="12115800" y="13131800"/>
            <a:ext cx="368300" cy="228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836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6</a:t>
            </a:r>
            <a:endParaRPr lang="en" sz="1836" b="0" i="0" u="none" strike="noStrike" dirty="0">
              <a:solidFill>
                <a:srgbClr val="00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1300" y="266700"/>
            <a:ext cx="3810000" cy="444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307300" y="152400"/>
            <a:ext cx="3810000" cy="635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41400" y="1498600"/>
            <a:ext cx="5372100" cy="850900"/>
          </a:xfrm>
          <a:prstGeom prst="rect">
            <a:avLst/>
          </a:prstGeom>
        </p:spPr>
        <p:txBody>
          <a:bodyPr lIns="0" tIns="609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MQTT Latency </a:t>
            </a: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연구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6000" y="1117600"/>
            <a:ext cx="1371600" cy="3810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관련연구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87600" y="8052047"/>
            <a:ext cx="5918200" cy="630464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Cloud-Edge MQTT(2025)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4953000"/>
            <a:ext cx="7480300" cy="3048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814945" y="8893710"/>
            <a:ext cx="6299200" cy="931636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200" b="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엣지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환경에서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MQTT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브로커의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메모리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사용을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75%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줄이면서</a:t>
            </a:r>
          </a:p>
          <a:p>
            <a:pPr lvl="0" algn="ctr">
              <a:lnSpc>
                <a:spcPct val="116199"/>
              </a:lnSpc>
            </a:pPr>
            <a:r>
              <a:rPr lang="ko-KR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메시지</a:t>
            </a:r>
            <a:r>
              <a:rPr lang="en-US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스케줄링을</a:t>
            </a:r>
            <a:r>
              <a:rPr lang="en-US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통해</a:t>
            </a:r>
            <a:r>
              <a:rPr lang="en-US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지연을</a:t>
            </a:r>
            <a:r>
              <a:rPr lang="en-US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개선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6500" y="3657600"/>
            <a:ext cx="5422900" cy="5486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057409" y="9699625"/>
            <a:ext cx="81407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200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만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동시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연결에서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P99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지연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4.66ms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달성한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EMQX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</a:t>
            </a:r>
            <a:r>
              <a:rPr lang="en-US" alt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정상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환경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최적화</a:t>
            </a:r>
            <a:r>
              <a:rPr lang="en-US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기법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과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실제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벤치마크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95000" y="9144000"/>
            <a:ext cx="5257800" cy="444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EMQX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성능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최적화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(2025)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808700" y="6320559"/>
            <a:ext cx="5156200" cy="2667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Application-level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제어</a:t>
            </a:r>
          </a:p>
          <a:p>
            <a:pPr lvl="0" algn="ctr">
              <a:lnSpc>
                <a:spcPct val="116199"/>
              </a:lnSpc>
            </a:pPr>
            <a:r>
              <a:rPr lang="ko-KR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네트워크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부하</a:t>
            </a:r>
            <a:r>
              <a:rPr lang="en-US" sz="3600" b="0" i="0" u="none" strike="noStrike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환경</a:t>
            </a:r>
            <a:r>
              <a:rPr lang="en-US" sz="3600" b="0" i="0" u="none" strike="noStrike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3600" b="0" i="0" u="none" strike="noStrike" dirty="0" err="1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미검증</a:t>
            </a:r>
            <a:endParaRPr lang="ko-KR" sz="3600" b="0" i="0" u="none" strike="noStrike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vl="0" algn="ctr">
              <a:lnSpc>
                <a:spcPct val="116199"/>
              </a:lnSpc>
            </a:pPr>
            <a:r>
              <a:rPr lang="ko-KR" altLang="en-US" sz="36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단순 설정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36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변경</a:t>
            </a:r>
            <a:endParaRPr lang="ko-KR" sz="3600" b="0" i="0" u="none" strike="noStrike" dirty="0">
              <a:solidFill>
                <a:srgbClr val="00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70400" y="6845300"/>
            <a:ext cx="1371600" cy="965200"/>
          </a:xfrm>
          <a:prstGeom prst="rect">
            <a:avLst/>
          </a:prstGeom>
        </p:spPr>
      </p:pic>
      <p:sp>
        <p:nvSpPr>
          <p:cNvPr id="15" name="TextBox 8">
            <a:extLst>
              <a:ext uri="{FF2B5EF4-FFF2-40B4-BE49-F238E27FC236}">
                <a16:creationId xmlns:a16="http://schemas.microsoft.com/office/drawing/2014/main" id="{8E0F3BB7-75BE-4991-A545-0FC2200C589A}"/>
              </a:ext>
            </a:extLst>
          </p:cNvPr>
          <p:cNvSpPr txBox="1"/>
          <p:nvPr/>
        </p:nvSpPr>
        <p:spPr>
          <a:xfrm>
            <a:off x="12115800" y="13131800"/>
            <a:ext cx="368300" cy="228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836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1300" y="266700"/>
            <a:ext cx="38100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307300" y="152400"/>
            <a:ext cx="3810000" cy="635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65200" y="1498600"/>
            <a:ext cx="6578600" cy="876300"/>
          </a:xfrm>
          <a:prstGeom prst="rect">
            <a:avLst/>
          </a:prstGeom>
        </p:spPr>
        <p:txBody>
          <a:bodyPr lIns="0" tIns="609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799" b="1" i="0" u="none" strike="noStrike" spc="-144" dirty="0" err="1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eBPF</a:t>
            </a:r>
            <a:r>
              <a:rPr lang="en-US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&amp;  RL </a:t>
            </a:r>
            <a:r>
              <a:rPr lang="ko-KR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기반</a:t>
            </a:r>
            <a:r>
              <a:rPr lang="en-US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제어</a:t>
            </a:r>
            <a:r>
              <a:rPr lang="en-US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연구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6000" y="1117600"/>
            <a:ext cx="1371600" cy="3810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관련연구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00" y="3708400"/>
            <a:ext cx="5486400" cy="31496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718705" y="6858000"/>
            <a:ext cx="8356600" cy="69503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3600" b="1" i="1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Extended Berkeley Packet Filter(eBPF)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3019" y="7553036"/>
            <a:ext cx="8022936" cy="4162136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Linux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커널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내부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신호를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안전하게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수집</a:t>
            </a:r>
            <a:b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r>
              <a:rPr lang="ko-KR" sz="3200" b="0" i="0" u="none" strike="noStrike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커널</a:t>
            </a:r>
            <a:r>
              <a:rPr lang="en-US" sz="3200" b="0" i="0" u="none" strike="noStrike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수정</a:t>
            </a:r>
            <a:r>
              <a:rPr lang="en-US" sz="3200" b="0" i="0" u="none" strike="noStrike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없이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실시간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모니터링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가능</a:t>
            </a:r>
          </a:p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Cilium (Google, AWS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K8s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네트워킹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
Cloudflare (DDoS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방어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초당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4600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만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요청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
Netflix (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세계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스트리밍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모니터링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8700" y="3378200"/>
            <a:ext cx="5461000" cy="4292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0262755" y="7807036"/>
            <a:ext cx="11963400" cy="850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3600" b="1" i="1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Mutant: Learning Congestion Control from Existing</a:t>
            </a:r>
          </a:p>
          <a:p>
            <a:pPr lvl="0" algn="ctr">
              <a:lnSpc>
                <a:spcPct val="116199"/>
              </a:lnSpc>
            </a:pPr>
            <a:r>
              <a:rPr lang="en" sz="3600" b="1" i="1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Protocols via Online Reinforcement Learning(2025, NSDI)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05804" y="9207499"/>
            <a:ext cx="8920595" cy="21336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6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커널</a:t>
            </a:r>
            <a:r>
              <a:rPr lang="en-US" sz="36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TCP </a:t>
            </a:r>
            <a:r>
              <a:rPr lang="ko-KR" sz="36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신호</a:t>
            </a:r>
            <a:r>
              <a:rPr lang="en-US" sz="36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활용하여</a:t>
            </a:r>
            <a:r>
              <a:rPr lang="en-US" sz="36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최적</a:t>
            </a:r>
            <a:r>
              <a:rPr lang="en-US" sz="36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CC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상황별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선택</a:t>
            </a:r>
          </a:p>
          <a:p>
            <a:pPr lvl="0" algn="ctr">
              <a:lnSpc>
                <a:spcPct val="116199"/>
              </a:lnSpc>
            </a:pP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고정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CC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대비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처리량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↑,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지연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↓</a:t>
            </a:r>
          </a:p>
          <a:p>
            <a:pPr lvl="0" algn="ctr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커널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신호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+ RL =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효과적임을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입증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
</a:t>
            </a:r>
          </a:p>
          <a:p>
            <a:pPr lvl="0" algn="ctr">
              <a:lnSpc>
                <a:spcPct val="116199"/>
              </a:lnSpc>
            </a:pPr>
            <a:endParaRPr lang="en-US" sz="3600" b="0" i="0" u="none" strike="noStrike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algn="ctr">
              <a:lnSpc>
                <a:spcPct val="116199"/>
              </a:lnSpc>
            </a:pPr>
            <a:endParaRPr lang="en-US" sz="3600" b="0" i="0" u="none" strike="noStrike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21000" y="3289300"/>
            <a:ext cx="5816600" cy="4483100"/>
          </a:xfrm>
          <a:prstGeom prst="rect">
            <a:avLst/>
          </a:prstGeom>
        </p:spPr>
      </p:pic>
      <p:sp>
        <p:nvSpPr>
          <p:cNvPr id="15" name="TextBox 8">
            <a:extLst>
              <a:ext uri="{FF2B5EF4-FFF2-40B4-BE49-F238E27FC236}">
                <a16:creationId xmlns:a16="http://schemas.microsoft.com/office/drawing/2014/main" id="{0B0B2057-BF38-466C-841C-99579DA28F42}"/>
              </a:ext>
            </a:extLst>
          </p:cNvPr>
          <p:cNvSpPr txBox="1"/>
          <p:nvPr/>
        </p:nvSpPr>
        <p:spPr>
          <a:xfrm>
            <a:off x="12115800" y="13131800"/>
            <a:ext cx="368300" cy="228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836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83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1300" y="266700"/>
            <a:ext cx="3810000" cy="444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307300" y="152400"/>
            <a:ext cx="3810000" cy="635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65200" y="1447800"/>
            <a:ext cx="3987800" cy="850900"/>
          </a:xfrm>
          <a:prstGeom prst="rect">
            <a:avLst/>
          </a:prstGeom>
        </p:spPr>
        <p:txBody>
          <a:bodyPr lIns="0" tIns="609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시스템</a:t>
            </a:r>
            <a:r>
              <a:rPr lang="en-US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아키텍처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6000" y="1130300"/>
            <a:ext cx="1498600" cy="3556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sz="2133" b="0" i="0" u="none" strike="noStrike" dirty="0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시스템</a:t>
            </a:r>
            <a:r>
              <a:rPr lang="en-US" sz="2133" b="0" i="0" u="none" strike="noStrike" dirty="0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2133" b="0" i="0" u="none" strike="noStrike" dirty="0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개요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3821" y="2223407"/>
            <a:ext cx="2476500" cy="342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State Features Table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069488"/>
              </p:ext>
            </p:extLst>
          </p:nvPr>
        </p:nvGraphicFramePr>
        <p:xfrm>
          <a:off x="4076700" y="4038600"/>
          <a:ext cx="16866870" cy="7004652"/>
        </p:xfrm>
        <a:graphic>
          <a:graphicData uri="http://schemas.openxmlformats.org/drawingml/2006/table">
            <a:tbl>
              <a:tblPr/>
              <a:tblGrid>
                <a:gridCol w="3570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3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7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4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5060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Category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Feature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Description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Source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112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Kernel Signals (5</a:t>
                      </a:r>
                      <a:r>
                        <a:rPr lang="ko-KR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개</a:t>
                      </a:r>
                      <a:r>
                        <a:rPr 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snd_ratio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ko-KR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송신</a:t>
                      </a:r>
                      <a:r>
                        <a:rPr 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버퍼</a:t>
                      </a:r>
                      <a:r>
                        <a:rPr 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점유율</a:t>
                      </a:r>
                      <a:r>
                        <a:rPr 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 (sk_wmem_queued / sndbuf)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eBPF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rcv_ratio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ko-KR" sz="2933" b="0" i="0" u="none" strike="noStrike" dirty="0">
                          <a:solidFill>
                            <a:srgbClr val="1F1F1F"/>
                          </a:solidFill>
                          <a:ea typeface="Pretendard Regular"/>
                        </a:rPr>
                        <a:t>수신</a:t>
                      </a:r>
                      <a:r>
                        <a:rPr lang="en-US" sz="2933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933" b="0" i="0" u="none" strike="noStrike" dirty="0">
                          <a:solidFill>
                            <a:srgbClr val="1F1F1F"/>
                          </a:solidFill>
                          <a:ea typeface="Pretendard Regular"/>
                        </a:rPr>
                        <a:t>버퍼</a:t>
                      </a:r>
                      <a:r>
                        <a:rPr lang="en-US" sz="2933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933" b="0" i="0" u="none" strike="noStrike" dirty="0">
                          <a:solidFill>
                            <a:srgbClr val="1F1F1F"/>
                          </a:solidFill>
                          <a:ea typeface="Pretendard Regular"/>
                        </a:rPr>
                        <a:t>점유율</a:t>
                      </a:r>
                      <a:r>
                        <a:rPr lang="en-US" sz="2933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 (</a:t>
                      </a:r>
                      <a:r>
                        <a:rPr lang="en-US" sz="2933" b="0" i="0" u="none" strike="noStrike" dirty="0" err="1">
                          <a:solidFill>
                            <a:srgbClr val="1F1F1F"/>
                          </a:solidFill>
                          <a:latin typeface="Pretendard Regular"/>
                        </a:rPr>
                        <a:t>sk_rmem_alloc</a:t>
                      </a:r>
                      <a:r>
                        <a:rPr lang="en-US" sz="2933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 / </a:t>
                      </a:r>
                      <a:r>
                        <a:rPr lang="en-US" sz="2933" b="0" i="0" u="none" strike="noStrike" dirty="0" err="1">
                          <a:solidFill>
                            <a:srgbClr val="1F1F1F"/>
                          </a:solidFill>
                          <a:latin typeface="Pretendard Regular"/>
                        </a:rPr>
                        <a:t>rcvbuf</a:t>
                      </a:r>
                      <a:r>
                        <a:rPr lang="en-US" sz="2933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)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eBPF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rtt_norm 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ko-KR" altLang="en-US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정규화 </a:t>
                      </a:r>
                      <a:r>
                        <a:rPr lang="en-US" altLang="ko-KR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RTT (ewma_rtt_us / scale)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eBPF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348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had_retrans 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ko-KR" altLang="en-US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최근 윈도우 재전송 발생 여부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eBPF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348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congestion_score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ko-KR" altLang="en-US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 혼잡도 점수 </a:t>
                      </a:r>
                      <a:r>
                        <a:rPr lang="en-US" altLang="ko-KR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(snd_ratio, RTT </a:t>
                      </a:r>
                      <a:r>
                        <a:rPr lang="ko-KR" altLang="en-US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기반</a:t>
                      </a:r>
                      <a:r>
                        <a:rPr lang="en-US" altLang="ko-KR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)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eBPF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348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Policy Context (2</a:t>
                      </a:r>
                      <a:r>
                        <a:rPr lang="ko-KR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개</a:t>
                      </a:r>
                      <a:r>
                        <a:rPr 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rate_norm 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ko-KR" altLang="en-US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현재 </a:t>
                      </a:r>
                      <a:r>
                        <a:rPr 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 throttle rate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RL Agent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2348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batch_norm 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ko-KR" altLang="en-US" sz="2933" b="0" i="0" u="none" strike="noStrike">
                          <a:solidFill>
                            <a:srgbClr val="1F1F1F"/>
                          </a:solidFill>
                          <a:ea typeface="Pretendard Regular"/>
                        </a:rPr>
                        <a:t>현재 </a:t>
                      </a:r>
                      <a:r>
                        <a:rPr 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 batch size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RL Agent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2348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-US" sz="2933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Momentum (2</a:t>
                      </a:r>
                      <a:r>
                        <a:rPr lang="ko-KR" sz="2933" b="0" i="0" u="none" strike="noStrike" dirty="0">
                          <a:solidFill>
                            <a:srgbClr val="1F1F1F"/>
                          </a:solidFill>
                          <a:ea typeface="Pretendard Regular"/>
                        </a:rPr>
                        <a:t>개</a:t>
                      </a:r>
                      <a:r>
                        <a:rPr lang="en-US" sz="2933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)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last_d_rate 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ko-KR" alt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직전 스텝 </a:t>
                      </a:r>
                      <a:r>
                        <a:rPr lang="en-US" altLang="ko-KR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rate </a:t>
                      </a:r>
                      <a:r>
                        <a:rPr lang="ko-KR" alt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변화량 </a:t>
                      </a:r>
                      <a:r>
                        <a:rPr lang="en-US" altLang="ko-KR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(Δrate)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RL Agent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530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last_d_batch 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ko-KR" altLang="en-US" sz="2933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직전 스텝 </a:t>
                      </a:r>
                      <a:r>
                        <a:rPr lang="en-US" altLang="ko-KR" sz="2933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batch </a:t>
                      </a:r>
                      <a:r>
                        <a:rPr lang="ko-KR" altLang="en-US" sz="2933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변화량 </a:t>
                      </a:r>
                      <a:r>
                        <a:rPr lang="en-US" altLang="ko-KR" sz="2933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(</a:t>
                      </a:r>
                      <a:r>
                        <a:rPr lang="en-US" altLang="ko-KR" sz="2933" b="0" i="0" u="none" strike="noStrike" dirty="0" err="1">
                          <a:solidFill>
                            <a:srgbClr val="1F1F1F"/>
                          </a:solidFill>
                          <a:latin typeface="Pretendard Regular"/>
                        </a:rPr>
                        <a:t>Δbatch</a:t>
                      </a:r>
                      <a:r>
                        <a:rPr lang="en-US" altLang="ko-KR" sz="2933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)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RL Agent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kumimoji="0" lang="en-US" altLang="ko-KR" sz="2933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E2E </a:t>
                      </a:r>
                      <a:r>
                        <a:rPr kumimoji="0" lang="ko-KR" altLang="en-US" sz="2933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지연</a:t>
                      </a:r>
                      <a:r>
                        <a:rPr kumimoji="0" lang="en-US" altLang="ko-KR" sz="2933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(1</a:t>
                      </a:r>
                      <a:r>
                        <a:rPr kumimoji="0" lang="ko-KR" altLang="en-US" sz="2933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2933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)</a:t>
                      </a:r>
                      <a:endParaRPr lang="en-US" altLang="ko-KR" sz="1100" dirty="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p99_norm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-US" altLang="ko-KR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Application P99 </a:t>
                      </a:r>
                      <a:r>
                        <a:rPr lang="ko-KR" altLang="en-US" sz="2933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지연시간	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2933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 Subscriber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5684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72DAF62-6959-4E7D-B0E3-87E51D4345C5}"/>
              </a:ext>
            </a:extLst>
          </p:cNvPr>
          <p:cNvSpPr txBox="1"/>
          <p:nvPr/>
        </p:nvSpPr>
        <p:spPr>
          <a:xfrm>
            <a:off x="12115800" y="13131800"/>
            <a:ext cx="368300" cy="228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836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2477" y="266700"/>
            <a:ext cx="3810000" cy="444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298477" y="152400"/>
            <a:ext cx="3810000" cy="635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56377" y="1447800"/>
            <a:ext cx="3987800" cy="850900"/>
          </a:xfrm>
          <a:prstGeom prst="rect">
            <a:avLst/>
          </a:prstGeom>
        </p:spPr>
        <p:txBody>
          <a:bodyPr lIns="0" tIns="609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시스템</a:t>
            </a:r>
            <a:r>
              <a:rPr lang="en-US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아키텍처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177" y="1130300"/>
            <a:ext cx="1574800" cy="3556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sz="2133" b="0" i="0" u="none" strike="noStrike" dirty="0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시스템</a:t>
            </a:r>
            <a:r>
              <a:rPr lang="en-US" sz="2133" b="0" i="0" u="none" strike="noStrike" dirty="0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2133" b="0" i="0" u="none" strike="noStrike" dirty="0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개요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72276" y="2298700"/>
            <a:ext cx="4161723" cy="3175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1914" b="0" i="0" u="none" strike="noStrike" dirty="0" err="1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eBPF</a:t>
            </a:r>
            <a:r>
              <a:rPr lang="en-US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× RL </a:t>
            </a:r>
            <a:r>
              <a:rPr lang="ko-KR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통합</a:t>
            </a:r>
            <a:r>
              <a:rPr lang="en-US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기반</a:t>
            </a:r>
            <a:r>
              <a:rPr lang="en-US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실시간</a:t>
            </a:r>
            <a:r>
              <a:rPr lang="en-US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지연</a:t>
            </a:r>
            <a:r>
              <a:rPr lang="en-US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제어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073228" y="3855651"/>
            <a:ext cx="4558172" cy="1282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360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Application</a:t>
            </a:r>
            <a:r>
              <a:rPr lang="en" sz="3600" b="1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Layer</a:t>
            </a:r>
          </a:p>
          <a:p>
            <a:pPr lvl="0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데이터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스트림과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제어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명령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813885" y="5715000"/>
            <a:ext cx="5941587" cy="2495262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3600" b="1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Kernel Space - eBPF Layer</a:t>
            </a:r>
          </a:p>
          <a:p>
            <a:pPr lvl="0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 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커널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신호를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실시간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수집</a:t>
            </a:r>
          </a:p>
          <a:p>
            <a:pPr lvl="0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수집된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신호는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 User Space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</a:t>
            </a:r>
            <a:r>
              <a:rPr lang="en-US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005831" y="8319365"/>
            <a:ext cx="5777350" cy="1282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36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</a:p>
          <a:p>
            <a:pPr lvl="0" algn="ctr">
              <a:lnSpc>
                <a:spcPct val="116199"/>
              </a:lnSpc>
            </a:pPr>
            <a:r>
              <a:rPr lang="en" sz="3600" b="1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User Space - RL Agent</a:t>
            </a:r>
          </a:p>
          <a:p>
            <a:pPr lvl="0">
              <a:lnSpc>
                <a:spcPct val="116199"/>
              </a:lnSpc>
            </a:pP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커널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신호를</a:t>
            </a:r>
            <a:r>
              <a:rPr lang="en-US" altLang="ko-KR" sz="36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변환</a:t>
            </a:r>
            <a:r>
              <a:rPr lang="en-US" altLang="ko-KR" sz="3600" b="0" i="0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</a:t>
            </a:r>
            <a:r>
              <a:rPr lang="en-US" sz="3600" b="0" i="0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발행</a:t>
            </a:r>
            <a:r>
              <a:rPr lang="en-US" sz="3600" b="0" i="0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속도와</a:t>
            </a:r>
            <a:r>
              <a:rPr lang="en-US" sz="3600" b="0" i="0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배치</a:t>
            </a:r>
            <a:r>
              <a:rPr lang="en-US" sz="3600" b="0" i="0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제어</a:t>
            </a:r>
          </a:p>
          <a:p>
            <a:pPr lvl="0">
              <a:lnSpc>
                <a:spcPct val="116199"/>
              </a:lnSpc>
            </a:pPr>
            <a:r>
              <a:rPr lang="en-US" sz="3600" b="0" i="0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Safety Shield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통해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과도한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조정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방지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ED5F8D9-85F5-4935-8958-6735C971F8A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9" t="4354" r="31120" b="52498"/>
          <a:stretch/>
        </p:blipFill>
        <p:spPr>
          <a:xfrm>
            <a:off x="66051" y="3765184"/>
            <a:ext cx="17864397" cy="8161576"/>
          </a:xfrm>
          <a:prstGeom prst="rect">
            <a:avLst/>
          </a:prstGeom>
        </p:spPr>
      </p:pic>
      <p:sp>
        <p:nvSpPr>
          <p:cNvPr id="14" name="TextBox 8">
            <a:extLst>
              <a:ext uri="{FF2B5EF4-FFF2-40B4-BE49-F238E27FC236}">
                <a16:creationId xmlns:a16="http://schemas.microsoft.com/office/drawing/2014/main" id="{5D929DCD-4A2A-4970-AA16-81ABE06FB0F0}"/>
              </a:ext>
            </a:extLst>
          </p:cNvPr>
          <p:cNvSpPr txBox="1"/>
          <p:nvPr/>
        </p:nvSpPr>
        <p:spPr>
          <a:xfrm>
            <a:off x="12115800" y="13131800"/>
            <a:ext cx="457200" cy="261444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836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1300" y="266700"/>
            <a:ext cx="3810000" cy="444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307300" y="152400"/>
            <a:ext cx="3810000" cy="635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60400" y="1447800"/>
            <a:ext cx="8572500" cy="850900"/>
          </a:xfrm>
          <a:prstGeom prst="rect">
            <a:avLst/>
          </a:prstGeom>
        </p:spPr>
        <p:txBody>
          <a:bodyPr lIns="0" tIns="609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eBPF Layer &amp; </a:t>
            </a: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데이터</a:t>
            </a:r>
            <a:r>
              <a:rPr lang="en-US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파이프라인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6000" y="1130300"/>
            <a:ext cx="1498600" cy="3556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4499"/>
              </a:lnSpc>
            </a:pPr>
            <a:r>
              <a:rPr lang="ko-KR" sz="2133" b="0" i="0" u="none" strike="noStrike" dirty="0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시스템</a:t>
            </a:r>
            <a:r>
              <a:rPr lang="en-US" sz="2133" b="0" i="0" u="none" strike="noStrike" dirty="0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2133" b="0" i="0" u="none" strike="noStrike" dirty="0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개요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1100" y="2298700"/>
            <a:ext cx="4229100" cy="3175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sz="1914" b="0" i="0" u="none" strike="noStrike" dirty="0" err="1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eBPF</a:t>
            </a:r>
            <a:r>
              <a:rPr lang="en-US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× RL </a:t>
            </a:r>
            <a:r>
              <a:rPr lang="ko-KR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통합</a:t>
            </a:r>
            <a:r>
              <a:rPr lang="en-US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기반</a:t>
            </a:r>
            <a:r>
              <a:rPr lang="en-US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실시간</a:t>
            </a:r>
            <a:r>
              <a:rPr lang="en-US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지연</a:t>
            </a:r>
            <a:r>
              <a:rPr lang="en-US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1914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제어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7772400" y="7048500"/>
            <a:ext cx="10490200" cy="3429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F0801F8-81E8-4801-9B5F-88E52D5D13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00" y="3149600"/>
            <a:ext cx="12187450" cy="9743309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3B47A50D-7559-4ED2-8CF7-9D62A67BCD14}"/>
              </a:ext>
            </a:extLst>
          </p:cNvPr>
          <p:cNvSpPr txBox="1"/>
          <p:nvPr/>
        </p:nvSpPr>
        <p:spPr>
          <a:xfrm>
            <a:off x="12115800" y="13131800"/>
            <a:ext cx="457200" cy="261444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836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11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8930342-7A7D-4561-B824-4B2E7FC5E9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2623" y="152399"/>
            <a:ext cx="10280355" cy="12001500"/>
          </a:xfrm>
          <a:prstGeom prst="rect">
            <a:avLst/>
          </a:prstGeom>
        </p:spPr>
      </p:pic>
      <p:sp>
        <p:nvSpPr>
          <p:cNvPr id="24" name="TextBox 11">
            <a:extLst>
              <a:ext uri="{FF2B5EF4-FFF2-40B4-BE49-F238E27FC236}">
                <a16:creationId xmlns:a16="http://schemas.microsoft.com/office/drawing/2014/main" id="{6381578D-3C4B-43A8-9081-091AFC1DE969}"/>
              </a:ext>
            </a:extLst>
          </p:cNvPr>
          <p:cNvSpPr txBox="1"/>
          <p:nvPr/>
        </p:nvSpPr>
        <p:spPr>
          <a:xfrm>
            <a:off x="13518250" y="12097844"/>
            <a:ext cx="8917777" cy="12827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4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PPO – </a:t>
            </a:r>
            <a:r>
              <a:rPr lang="ko-KR" altLang="en-US" sz="2400" b="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연속값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액션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2400" b="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클리핑으로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안정적 학습</a:t>
            </a:r>
            <a:endParaRPr lang="en-US" altLang="ko-KR" sz="2400" b="0" i="0" u="none" strike="noStrike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sz="2400" b="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변동성많은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네트워크에서 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on-policy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최신 상태에 빠르게 적응</a:t>
            </a:r>
            <a:endParaRPr lang="ko-KR" sz="2400" b="0" i="0" u="none" strike="noStrike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06400" y="317500"/>
            <a:ext cx="3810000" cy="444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117600" y="1511300"/>
            <a:ext cx="2527300" cy="850900"/>
          </a:xfrm>
          <a:prstGeom prst="rect">
            <a:avLst/>
          </a:prstGeom>
        </p:spPr>
        <p:txBody>
          <a:bodyPr lIns="0" tIns="609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실험</a:t>
            </a:r>
            <a:r>
              <a:rPr lang="en-US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환경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8400" y="1181100"/>
            <a:ext cx="762000" cy="3810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실험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793140"/>
              </p:ext>
            </p:extLst>
          </p:nvPr>
        </p:nvGraphicFramePr>
        <p:xfrm>
          <a:off x="3567194" y="4343117"/>
          <a:ext cx="16792412" cy="1949388"/>
        </p:xfrm>
        <a:graphic>
          <a:graphicData uri="http://schemas.openxmlformats.org/drawingml/2006/table">
            <a:tbl>
              <a:tblPr/>
              <a:tblGrid>
                <a:gridCol w="3640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1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1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9711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3200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Scenario</a:t>
                      </a:r>
                      <a:endParaRPr lang="en-US" sz="32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32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Bandwidth</a:t>
                      </a:r>
                      <a:endParaRPr lang="en-US" sz="32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32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RTT</a:t>
                      </a:r>
                      <a:endParaRPr lang="en-US" sz="32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32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Loss</a:t>
                      </a:r>
                      <a:endParaRPr lang="en-US" sz="32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32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Note</a:t>
                      </a:r>
                      <a:endParaRPr lang="en-US" sz="32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711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32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Normal</a:t>
                      </a:r>
                      <a:endParaRPr lang="en-US" sz="32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3200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≈ 700 Mbps</a:t>
                      </a:r>
                      <a:endParaRPr lang="en-US" sz="32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32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≈ 0.2 ms</a:t>
                      </a:r>
                      <a:endParaRPr lang="en-US" sz="32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32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0%</a:t>
                      </a:r>
                      <a:endParaRPr lang="en-US" sz="32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3200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-</a:t>
                      </a:r>
                      <a:endParaRPr lang="en-US" sz="32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711"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3200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Congestion</a:t>
                      </a:r>
                      <a:endParaRPr lang="en-US" sz="32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32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2 Mbps</a:t>
                      </a:r>
                      <a:endParaRPr lang="en-US" sz="32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32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50 ms</a:t>
                      </a:r>
                      <a:endParaRPr lang="en-US" sz="32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" sz="3200" b="0" i="0" u="none" strike="noStrike">
                          <a:solidFill>
                            <a:srgbClr val="1F1F1F"/>
                          </a:solidFill>
                          <a:latin typeface="Pretendard Regular"/>
                        </a:rPr>
                        <a:t>2%</a:t>
                      </a:r>
                      <a:endParaRPr lang="en-US" sz="32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4499"/>
                        </a:lnSpc>
                        <a:defRPr/>
                      </a:pPr>
                      <a:r>
                        <a:rPr lang="en-US" sz="3200" b="0" i="0" u="none" strike="noStrike" dirty="0" err="1">
                          <a:solidFill>
                            <a:srgbClr val="1F1F1F"/>
                          </a:solidFill>
                          <a:latin typeface="Pretendard Regular"/>
                        </a:rPr>
                        <a:t>tc</a:t>
                      </a:r>
                      <a:r>
                        <a:rPr lang="en-US" sz="3200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 </a:t>
                      </a:r>
                      <a:r>
                        <a:rPr lang="en-US" sz="3200" b="0" i="0" u="none" strike="noStrike" dirty="0" err="1">
                          <a:solidFill>
                            <a:srgbClr val="1F1F1F"/>
                          </a:solidFill>
                          <a:latin typeface="Pretendard Regular"/>
                        </a:rPr>
                        <a:t>netem</a:t>
                      </a:r>
                      <a:r>
                        <a:rPr lang="en-US" sz="3200" b="0" i="0" u="none" strike="noStrike" dirty="0">
                          <a:solidFill>
                            <a:srgbClr val="1F1F1F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3200" b="0" i="0" u="none" strike="noStrike" dirty="0">
                          <a:solidFill>
                            <a:srgbClr val="1F1F1F"/>
                          </a:solidFill>
                          <a:ea typeface="Pretendard Regular"/>
                        </a:rPr>
                        <a:t>적용</a:t>
                      </a:r>
                      <a:endParaRPr lang="en-US" sz="32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8">
            <a:extLst>
              <a:ext uri="{FF2B5EF4-FFF2-40B4-BE49-F238E27FC236}">
                <a16:creationId xmlns:a16="http://schemas.microsoft.com/office/drawing/2014/main" id="{49059CEA-DCC8-4FF5-A240-491CE1CE1D79}"/>
              </a:ext>
            </a:extLst>
          </p:cNvPr>
          <p:cNvSpPr txBox="1"/>
          <p:nvPr/>
        </p:nvSpPr>
        <p:spPr>
          <a:xfrm>
            <a:off x="1117600" y="2379491"/>
            <a:ext cx="14884400" cy="1422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80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VirtualBox, 4 vCPU, 8 GB RAM, Ubuntu 24.04, Linux 6.8 (</a:t>
            </a:r>
            <a:r>
              <a:rPr lang="en-US" sz="280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eBPF</a:t>
            </a:r>
            <a:r>
              <a:rPr lang="en-US" sz="280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), EMQX 5.10, Python 3.12</a:t>
            </a:r>
            <a:endParaRPr lang="en-US" sz="2800" i="0" u="none" strike="noStrike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F8EC80A-7F08-4E57-A3C2-805402F2F607}"/>
              </a:ext>
            </a:extLst>
          </p:cNvPr>
          <p:cNvSpPr txBox="1"/>
          <p:nvPr/>
        </p:nvSpPr>
        <p:spPr>
          <a:xfrm>
            <a:off x="10058400" y="3454373"/>
            <a:ext cx="3810000" cy="69503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6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네트워크 시나리오</a:t>
            </a:r>
            <a:endParaRPr lang="en" sz="3600" u="none" strike="noStrike" dirty="0">
              <a:solidFill>
                <a:srgbClr val="00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448AA6EE-2750-4FDF-98DC-B634B2603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421678"/>
              </p:ext>
            </p:extLst>
          </p:nvPr>
        </p:nvGraphicFramePr>
        <p:xfrm>
          <a:off x="3567194" y="8098775"/>
          <a:ext cx="16792412" cy="2992520"/>
        </p:xfrm>
        <a:graphic>
          <a:graphicData uri="http://schemas.openxmlformats.org/drawingml/2006/table">
            <a:tbl>
              <a:tblPr/>
              <a:tblGrid>
                <a:gridCol w="8396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96206">
                  <a:extLst>
                    <a:ext uri="{9D8B030D-6E8A-4147-A177-3AD203B41FA5}">
                      <a16:colId xmlns:a16="http://schemas.microsoft.com/office/drawing/2014/main" val="2372812387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Mode</a:t>
                      </a:r>
                      <a:endParaRPr lang="en-US" sz="32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설명</a:t>
                      </a:r>
                      <a:endParaRPr lang="en-US" sz="32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32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3200" b="0" i="0" u="none" strike="noStrike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Baseline</a:t>
                      </a:r>
                      <a:endParaRPr lang="en-US" sz="320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제어</a:t>
                      </a: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없음</a:t>
                      </a: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(</a:t>
                      </a:r>
                      <a:r>
                        <a:rPr lang="ko-KR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고정</a:t>
                      </a: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rate, batch=1)</a:t>
                      </a:r>
                      <a:endParaRPr lang="en-US" sz="32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99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EMQX Default</a:t>
                      </a:r>
                      <a:endParaRPr lang="en-US" sz="32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브로커</a:t>
                      </a: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내장</a:t>
                      </a: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Application-level Flow Control</a:t>
                      </a:r>
                      <a:endParaRPr lang="en-US" sz="32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513479"/>
                  </a:ext>
                </a:extLst>
              </a:tr>
              <a:tr h="4247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CUBIC + </a:t>
                      </a:r>
                      <a:r>
                        <a:rPr lang="en-US" altLang="ko-KR" sz="3200" b="0" i="0" u="none" strike="noStrike" dirty="0" err="1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Codel</a:t>
                      </a:r>
                      <a:endParaRPr lang="en-US" altLang="ko-KR" sz="32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200" dirty="0"/>
                        <a:t>CUBIC + </a:t>
                      </a:r>
                      <a:r>
                        <a:rPr lang="en-US" altLang="ko-KR" sz="3200" dirty="0" err="1"/>
                        <a:t>CoDel</a:t>
                      </a:r>
                      <a:r>
                        <a:rPr lang="en-US" altLang="ko-KR" sz="3200" dirty="0"/>
                        <a:t> </a:t>
                      </a:r>
                      <a:r>
                        <a:rPr lang="ko-KR" altLang="en-US" sz="3200" dirty="0"/>
                        <a:t>큐 관리 </a:t>
                      </a:r>
                      <a:r>
                        <a:rPr lang="en-US" altLang="ko-KR" sz="3200" dirty="0"/>
                        <a:t>AQM</a:t>
                      </a:r>
                      <a:endParaRPr lang="ko-KR" altLang="en-US" sz="3200" dirty="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602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b="0" i="0" u="none" strike="noStrike" dirty="0" err="1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eMQTT</a:t>
                      </a: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-RL (</a:t>
                      </a:r>
                      <a:r>
                        <a:rPr lang="ko-KR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제안</a:t>
                      </a: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endParaRPr lang="en-US" sz="32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b="0" i="0" u="none" strike="noStrike" dirty="0" err="1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eBPF</a:t>
                      </a: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커널</a:t>
                      </a: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신호</a:t>
                      </a: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+ RL + Safety Shield</a:t>
                      </a:r>
                      <a:endParaRPr lang="en-US" sz="32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614001"/>
                  </a:ext>
                </a:extLst>
              </a:tr>
            </a:tbl>
          </a:graphicData>
        </a:graphic>
      </p:graphicFrame>
      <p:sp>
        <p:nvSpPr>
          <p:cNvPr id="14" name="TextBox 9">
            <a:extLst>
              <a:ext uri="{FF2B5EF4-FFF2-40B4-BE49-F238E27FC236}">
                <a16:creationId xmlns:a16="http://schemas.microsoft.com/office/drawing/2014/main" id="{5A0CAC04-BF07-416D-8776-2FEDBBC1DFD7}"/>
              </a:ext>
            </a:extLst>
          </p:cNvPr>
          <p:cNvSpPr txBox="1"/>
          <p:nvPr/>
        </p:nvSpPr>
        <p:spPr>
          <a:xfrm>
            <a:off x="10934700" y="7222703"/>
            <a:ext cx="2057400" cy="69503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60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비교 대상</a:t>
            </a:r>
            <a:endParaRPr lang="en" sz="3600" u="none" strike="noStrike" dirty="0">
              <a:solidFill>
                <a:srgbClr val="00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AD5A35EF-75AF-4357-B914-BB16E40C6D1D}"/>
              </a:ext>
            </a:extLst>
          </p:cNvPr>
          <p:cNvSpPr txBox="1"/>
          <p:nvPr/>
        </p:nvSpPr>
        <p:spPr>
          <a:xfrm>
            <a:off x="12115800" y="13131800"/>
            <a:ext cx="457200" cy="261444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836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1300" y="266700"/>
            <a:ext cx="3810000" cy="444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307300" y="152400"/>
            <a:ext cx="3810000" cy="635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65200" y="1447800"/>
            <a:ext cx="6083300" cy="850900"/>
          </a:xfrm>
          <a:prstGeom prst="rect">
            <a:avLst/>
          </a:prstGeom>
        </p:spPr>
        <p:txBody>
          <a:bodyPr lIns="0" tIns="609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실험</a:t>
            </a:r>
            <a:r>
              <a:rPr lang="en-US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결과</a:t>
            </a:r>
            <a:r>
              <a:rPr lang="en-US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- </a:t>
            </a: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평시</a:t>
            </a:r>
            <a:r>
              <a:rPr lang="en-US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799" b="1" i="0" u="none" strike="noStrike" spc="-144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네트워크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6000" y="1117600"/>
            <a:ext cx="762000" cy="3810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실험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5A43D01-6B50-4184-9096-8ECB827624A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2298700"/>
            <a:ext cx="16367793" cy="10875286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7D203636-DDF3-4C56-85D4-655661438B7A}"/>
              </a:ext>
            </a:extLst>
          </p:cNvPr>
          <p:cNvSpPr txBox="1"/>
          <p:nvPr/>
        </p:nvSpPr>
        <p:spPr>
          <a:xfrm>
            <a:off x="12115800" y="13131800"/>
            <a:ext cx="457200" cy="261444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836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6472" y="261445"/>
            <a:ext cx="3810000" cy="444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412472" y="147145"/>
            <a:ext cx="3810000" cy="635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70372" y="1442545"/>
            <a:ext cx="6197600" cy="850900"/>
          </a:xfrm>
          <a:prstGeom prst="rect">
            <a:avLst/>
          </a:prstGeom>
        </p:spPr>
        <p:txBody>
          <a:bodyPr lIns="0" tIns="609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실험</a:t>
            </a:r>
            <a:r>
              <a:rPr lang="en-US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결과</a:t>
            </a:r>
            <a:r>
              <a:rPr lang="en-US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- </a:t>
            </a:r>
            <a:r>
              <a:rPr lang="ko-KR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혼잡</a:t>
            </a:r>
            <a:r>
              <a:rPr lang="en-US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799" b="1" i="0" u="none" strike="noStrike" spc="-144" dirty="0">
                <a:solidFill>
                  <a:srgbClr val="FC523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네트워크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1172" y="1112345"/>
            <a:ext cx="762000" cy="3810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133" b="0" i="0" u="none" strike="noStrike" dirty="0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실험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95126" y="6528318"/>
            <a:ext cx="7162800" cy="1422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3600" b="1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CPU Overhead (RL Agent)</a:t>
            </a:r>
          </a:p>
          <a:p>
            <a:pPr lvl="0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4-core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기준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평균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≈ 1%,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피크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&lt; 3%</a:t>
            </a:r>
          </a:p>
          <a:p>
            <a:pPr lvl="0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오버헤드는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미미한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수준</a:t>
            </a:r>
            <a:endParaRPr lang="en-US" sz="3600" b="0" i="0" u="none" strike="noStrike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88BDCCC-F7EF-4A68-85B2-1043BCE264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28292"/>
            <a:ext cx="16364745" cy="108783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E835D8-B67B-48D6-BEEC-BD3961BB32C7}"/>
              </a:ext>
            </a:extLst>
          </p:cNvPr>
          <p:cNvSpPr txBox="1"/>
          <p:nvPr/>
        </p:nvSpPr>
        <p:spPr>
          <a:xfrm>
            <a:off x="12115800" y="13131800"/>
            <a:ext cx="457200" cy="261444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836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1300" y="266700"/>
            <a:ext cx="3810000" cy="444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307300" y="152400"/>
            <a:ext cx="3810000" cy="635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16000" y="1117600"/>
            <a:ext cx="2273300" cy="3810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결론</a:t>
            </a:r>
            <a:r>
              <a:rPr lang="en-US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및</a:t>
            </a:r>
            <a:r>
              <a:rPr lang="en-US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향후</a:t>
            </a:r>
            <a:r>
              <a:rPr lang="en-US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연구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72200" y="4191000"/>
            <a:ext cx="12890500" cy="3835400"/>
          </a:xfrm>
          <a:prstGeom prst="rect">
            <a:avLst/>
          </a:prstGeom>
        </p:spPr>
        <p:txBody>
          <a:bodyPr rtlCol="0" anchor="t"/>
          <a:lstStyle/>
          <a:p>
            <a:pPr marL="0" lvl="1" algn="l">
              <a:lnSpc>
                <a:spcPct val="116199"/>
              </a:lnSpc>
              <a:buClr>
                <a:srgbClr val="000000"/>
              </a:buClr>
            </a:pP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Baseline → EMQX (Application-level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제어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0" lvl="1" algn="l">
              <a:lnSpc>
                <a:spcPct val="116199"/>
              </a:lnSpc>
              <a:buClr>
                <a:srgbClr val="000000"/>
              </a:buClr>
            </a:pP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P99: 47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초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→ 20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초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(2.3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배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개선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0" lvl="1" algn="l">
              <a:lnSpc>
                <a:spcPct val="116199"/>
              </a:lnSpc>
              <a:buClr>
                <a:srgbClr val="000000"/>
              </a:buClr>
            </a:pPr>
            <a:r>
              <a:rPr lang="en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snd_ratio&gt;1  95.5% → 81.9%</a:t>
            </a:r>
          </a:p>
          <a:p>
            <a:pPr marL="0" lvl="1" algn="l">
              <a:lnSpc>
                <a:spcPct val="116199"/>
              </a:lnSpc>
              <a:buClr>
                <a:srgbClr val="000000"/>
              </a:buClr>
            </a:pP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부분적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개선은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있지만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sz="3600" b="0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버퍼</a:t>
            </a:r>
            <a:r>
              <a:rPr lang="en-US" sz="3600" b="0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대부분이</a:t>
            </a:r>
            <a:r>
              <a:rPr lang="en-US" sz="3600" b="0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넘침</a:t>
            </a:r>
            <a:r>
              <a:rPr lang="en-US" sz="3600" b="0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P99=20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초</a:t>
            </a:r>
          </a:p>
          <a:p>
            <a:pPr marL="0" lvl="1" algn="l">
              <a:lnSpc>
                <a:spcPct val="116199"/>
              </a:lnSpc>
              <a:buClr>
                <a:srgbClr val="000000"/>
              </a:buClr>
            </a:pPr>
            <a:endParaRPr lang="ko-KR" sz="3600" b="0" i="0" u="none" strike="noStrike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lvl="1" algn="l">
              <a:lnSpc>
                <a:spcPct val="116199"/>
              </a:lnSpc>
              <a:buClr>
                <a:srgbClr val="000000"/>
              </a:buClr>
            </a:pP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EMQX → </a:t>
            </a:r>
            <a:r>
              <a:rPr lang="en-US" sz="3600" b="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eBPF+RL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(Kernel-level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신호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0" lvl="1" algn="l">
              <a:lnSpc>
                <a:spcPct val="116199"/>
              </a:lnSpc>
              <a:buClr>
                <a:srgbClr val="000000"/>
              </a:buClr>
            </a:pP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P99: 20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초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→ 0.3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초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(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약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65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배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추가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개선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0" lvl="1" algn="l">
              <a:lnSpc>
                <a:spcPct val="116199"/>
              </a:lnSpc>
              <a:buClr>
                <a:srgbClr val="000000"/>
              </a:buClr>
            </a:pPr>
            <a:r>
              <a:rPr lang="en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snd_ratio: 81.9% → 2.3%</a:t>
            </a:r>
          </a:p>
          <a:p>
            <a:pPr marL="0" lvl="1" algn="l">
              <a:lnSpc>
                <a:spcPct val="116199"/>
              </a:lnSpc>
              <a:buClr>
                <a:srgbClr val="000000"/>
              </a:buClr>
            </a:pP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</a:t>
            </a:r>
            <a:r>
              <a:rPr lang="ko-KR" sz="3600" b="1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버퍼</a:t>
            </a:r>
            <a:r>
              <a:rPr lang="en-US" sz="3600" b="1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1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압력을</a:t>
            </a:r>
            <a:r>
              <a:rPr lang="en-US" sz="3600" b="1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1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거의</a:t>
            </a:r>
            <a:r>
              <a:rPr lang="en-US" sz="3600" b="1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1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제거하면서</a:t>
            </a:r>
            <a:r>
              <a:rPr lang="en-US" sz="3600" b="1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Tail </a:t>
            </a:r>
            <a:r>
              <a:rPr lang="ko-KR" sz="3600" b="1" i="0" u="none" strike="noStrike" dirty="0">
                <a:solidFill>
                  <a:schemeClr val="accent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안정화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43707" y="10666365"/>
            <a:ext cx="12890500" cy="9525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4000" b="1" i="1" u="sng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커널</a:t>
            </a:r>
            <a:r>
              <a:rPr lang="en-US" sz="4000" b="1" i="1" u="sng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000" b="1" i="1" u="sng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상태를</a:t>
            </a:r>
            <a:r>
              <a:rPr lang="en-US" sz="4000" b="1" i="1" u="sng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000" b="1" i="1" u="sng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직접</a:t>
            </a:r>
            <a:r>
              <a:rPr lang="en-US" sz="4000" b="1" i="1" u="sng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000" b="1" i="1" u="sng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보지</a:t>
            </a:r>
            <a:r>
              <a:rPr lang="en-US" sz="4000" b="1" i="1" u="sng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000" b="1" i="1" u="sng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못하면</a:t>
            </a:r>
            <a:r>
              <a:rPr lang="en-US" sz="4000" b="1" i="1" u="sng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 Tail</a:t>
            </a:r>
            <a:r>
              <a:rPr lang="ko-KR" sz="4000" b="1" i="1" u="sng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을</a:t>
            </a:r>
            <a:r>
              <a:rPr lang="en-US" altLang="ko-KR" sz="4000" b="1" i="1" u="sng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4000" b="1" i="1" u="sng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제어 불가능</a:t>
            </a:r>
            <a:endParaRPr lang="en-US" sz="4000" b="1" i="1" u="sng" strike="noStrike" dirty="0">
              <a:solidFill>
                <a:srgbClr val="00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153016" y="2944768"/>
            <a:ext cx="8141758" cy="497224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4000" b="1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Application-level</a:t>
            </a:r>
            <a:r>
              <a:rPr lang="ko-KR" sz="4000" b="1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의</a:t>
            </a:r>
            <a:r>
              <a:rPr lang="en-US" sz="4000" b="1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000" b="1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근본적</a:t>
            </a:r>
            <a:r>
              <a:rPr lang="en-US" sz="4000" b="1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000" b="1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한계</a:t>
            </a:r>
            <a:r>
              <a:rPr lang="en-US" sz="4000" b="1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000" b="1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증명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7C9CD7-0A10-4B19-A298-940C4B8FA0AF}"/>
              </a:ext>
            </a:extLst>
          </p:cNvPr>
          <p:cNvSpPr txBox="1"/>
          <p:nvPr/>
        </p:nvSpPr>
        <p:spPr>
          <a:xfrm>
            <a:off x="12115800" y="13131800"/>
            <a:ext cx="457200" cy="261444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836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1300" y="266700"/>
            <a:ext cx="3810000" cy="444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307300" y="152400"/>
            <a:ext cx="3810000" cy="635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16000" y="1117600"/>
            <a:ext cx="2273300" cy="3810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결론</a:t>
            </a:r>
            <a:r>
              <a:rPr lang="en-US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및</a:t>
            </a:r>
            <a:r>
              <a:rPr lang="en-US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향후</a:t>
            </a:r>
            <a:r>
              <a:rPr lang="en-US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연구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6001" y="6007100"/>
            <a:ext cx="11885564" cy="1701800"/>
          </a:xfrm>
          <a:prstGeom prst="rect">
            <a:avLst/>
          </a:prstGeom>
        </p:spPr>
        <p:txBody>
          <a:bodyPr rtlCol="0" anchor="t"/>
          <a:lstStyle/>
          <a:p>
            <a:pPr marL="571500" lvl="1" indent="-571500" algn="l">
              <a:lnSpc>
                <a:spcPct val="116199"/>
              </a:lnSpc>
              <a:buClr>
                <a:srgbClr val="000000"/>
              </a:buClr>
              <a:buFontTx/>
              <a:buChar char="-"/>
            </a:pP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혼잡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네트워크에서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sz="3600" b="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eBPF+RL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은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P99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0.3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초까지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낮추</a:t>
            </a:r>
            <a:r>
              <a:rPr lang="ko-KR" alt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</a:t>
            </a:r>
            <a:r>
              <a:rPr lang="en-US" altLang="ko-KR" sz="36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대신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 </a:t>
            </a:r>
            <a:r>
              <a:rPr lang="ko-KR" sz="36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처리량이</a:t>
            </a:r>
            <a:r>
              <a:rPr lang="en-US" sz="36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EMQX </a:t>
            </a:r>
            <a:r>
              <a:rPr lang="ko-KR" sz="36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대비</a:t>
            </a:r>
            <a:r>
              <a:rPr lang="en-US" sz="36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감소하는</a:t>
            </a:r>
            <a:r>
              <a:rPr lang="en-US" sz="36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구간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존재</a:t>
            </a:r>
          </a:p>
          <a:p>
            <a:pPr marL="571500" lvl="1" indent="-571500" algn="l">
              <a:lnSpc>
                <a:spcPct val="116199"/>
              </a:lnSpc>
              <a:buClr>
                <a:srgbClr val="000000"/>
              </a:buClr>
              <a:buFontTx/>
              <a:buChar char="-"/>
            </a:pP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현재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정책은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sz="36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Tail </a:t>
            </a:r>
            <a:r>
              <a:rPr lang="ko-KR" sz="3600" b="0" i="0" u="none" strike="noStrike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우선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으로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설계되어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 P99 ↔ Throughput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균형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조정이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미흡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7965" y="4572000"/>
            <a:ext cx="12090400" cy="469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40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한계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01565" y="4578927"/>
            <a:ext cx="12090400" cy="469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40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향후</a:t>
            </a:r>
            <a:r>
              <a:rPr lang="en-US" sz="40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연구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40773" y="5867400"/>
            <a:ext cx="11211983" cy="2565400"/>
          </a:xfrm>
          <a:prstGeom prst="rect">
            <a:avLst/>
          </a:prstGeom>
        </p:spPr>
        <p:txBody>
          <a:bodyPr rtlCol="0" anchor="t"/>
          <a:lstStyle/>
          <a:p>
            <a:pPr marL="0" lvl="1" algn="l">
              <a:lnSpc>
                <a:spcPct val="116199"/>
              </a:lnSpc>
              <a:buClr>
                <a:srgbClr val="000000"/>
              </a:buClr>
            </a:pP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“Tail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억제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+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처리량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유지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”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방향으로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정책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재설계</a:t>
            </a:r>
          </a:p>
          <a:p>
            <a:pPr marL="0" lvl="1" algn="l">
              <a:lnSpc>
                <a:spcPct val="116199"/>
              </a:lnSpc>
              <a:buClr>
                <a:srgbClr val="000000"/>
              </a:buClr>
            </a:pP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</a:t>
            </a:r>
            <a:r>
              <a:rPr lang="en-US" sz="3600" b="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Mosquitto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en-US" sz="3600" b="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HiveMQ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Kafka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등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다른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브로커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적용</a:t>
            </a:r>
          </a:p>
          <a:p>
            <a:pPr marL="0" lvl="1" algn="l">
              <a:lnSpc>
                <a:spcPct val="116199"/>
              </a:lnSpc>
              <a:buClr>
                <a:srgbClr val="000000"/>
              </a:buClr>
            </a:pPr>
            <a:r>
              <a:rPr lang="en-US" alt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다양한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sz="3600" b="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netem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시나리오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대역폭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변동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burst loss, RTT jitter)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와</a:t>
            </a:r>
            <a:r>
              <a:rPr lang="en-US" alt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실제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Edge/IoT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트래픽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패턴으로</a:t>
            </a:r>
            <a:r>
              <a:rPr lang="en-US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검증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157BC6B0-613D-4A37-B7C1-8CD8F110E23E}"/>
              </a:ext>
            </a:extLst>
          </p:cNvPr>
          <p:cNvSpPr txBox="1"/>
          <p:nvPr/>
        </p:nvSpPr>
        <p:spPr>
          <a:xfrm>
            <a:off x="12115800" y="13131800"/>
            <a:ext cx="457200" cy="261444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836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354038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C7756-28EA-C86B-2CD2-882D8F1F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DE2DBA3-A7AF-2FF7-4916-ADD941BC1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3F6FE2B-BA19-5D87-2F3B-AF355461B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1300" y="266700"/>
            <a:ext cx="3810000" cy="444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9399394-BDEE-3E01-6730-7B51E2BD64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307300" y="152400"/>
            <a:ext cx="3810000" cy="6350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037E2E67-7E24-3FF3-19F8-7E9189C752D1}"/>
              </a:ext>
            </a:extLst>
          </p:cNvPr>
          <p:cNvSpPr txBox="1"/>
          <p:nvPr/>
        </p:nvSpPr>
        <p:spPr>
          <a:xfrm>
            <a:off x="1016000" y="1117600"/>
            <a:ext cx="2273300" cy="3810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결론</a:t>
            </a:r>
            <a:r>
              <a:rPr lang="en-US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및</a:t>
            </a:r>
            <a:r>
              <a:rPr lang="en-US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향후</a:t>
            </a:r>
            <a:r>
              <a:rPr lang="en-US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sz="2133" b="0" i="0" u="none" strike="noStrike">
                <a:solidFill>
                  <a:srgbClr val="59595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연구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2D45A9A-3541-703A-7EA5-620859810BC9}"/>
              </a:ext>
            </a:extLst>
          </p:cNvPr>
          <p:cNvSpPr txBox="1"/>
          <p:nvPr/>
        </p:nvSpPr>
        <p:spPr>
          <a:xfrm>
            <a:off x="3467100" y="5613400"/>
            <a:ext cx="17449800" cy="3352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11500" b="0" i="0" u="none" strike="noStrike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감사합니다</a:t>
            </a:r>
            <a:endParaRPr lang="ko-KR" sz="11500" b="0" i="0" u="none" strike="noStrike" dirty="0">
              <a:solidFill>
                <a:srgbClr val="00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291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8426</TotalTime>
  <Words>2589</Words>
  <Application>Microsoft Office PowerPoint</Application>
  <PresentationFormat>사용자 지정</PresentationFormat>
  <Paragraphs>285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Calibri</vt:lpstr>
      <vt:lpstr>KoPub돋움체 Bold</vt:lpstr>
      <vt:lpstr>맑은 고딕</vt:lpstr>
      <vt:lpstr>Arial Rounded MT Bold</vt:lpstr>
      <vt:lpstr>Arial</vt:lpstr>
      <vt:lpstr>Arial Black</vt:lpstr>
      <vt:lpstr>KoPub돋움체 Medium</vt:lpstr>
      <vt:lpstr>Pretendard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진욱 정</cp:lastModifiedBy>
  <cp:revision>59</cp:revision>
  <dcterms:created xsi:type="dcterms:W3CDTF">2006-08-16T00:00:00Z</dcterms:created>
  <dcterms:modified xsi:type="dcterms:W3CDTF">2025-11-21T08:05:04Z</dcterms:modified>
</cp:coreProperties>
</file>